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5401-F460-46CC-AD66-D1AE298B6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B287C-F1D2-45EB-81F4-6BCF3C63A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696E5-E92B-4BF3-8250-8C0A5BE7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8BE1B-07D5-415D-95CC-1A515696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CA55D-BBFD-4A1B-A4F0-D813F0EC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091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0665-5734-45A0-9C3F-58B5EE76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E0A7-7314-43FB-9639-B53303C39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8A2B0-8A26-4AD1-A5C5-A6F65CDCB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7561D-53C2-4AB5-A399-439E4094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AB41B-D8EC-4C55-8F48-0E86FE07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30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8BE5-6B7E-4C5A-B890-A492E081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5632A-EE58-4409-967A-9B74E65F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5CEA1-4A52-4FEB-ADA1-E14842962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70CD-934B-490C-8BD8-22EF29F3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CD2C7-25BA-4587-9073-58696EBE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2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2B0B-ECC5-42FF-9D58-11FAEE54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5485A-3192-4731-86E8-BFE6777E3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789D8-3129-48E7-8A45-D61829766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BB378-EF5D-4C04-8A53-2E35560D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4F3BA-1912-454D-ADC2-A598C9D8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FA43E-8941-4AB4-92FB-B161468F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886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5F459-52F9-481F-A146-AAEB482E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07925-4E0C-4374-80C7-C01D26D3C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00285-6D26-4E9C-9D85-A45582850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897C43-EE1E-4056-873E-F1CEC5ADA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74C377-BBD0-488D-B0DA-70EB09444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BA4C4-5781-4D5D-AECA-962930A1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8D270D-A6EE-4ADC-A083-FD85B257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9C366-7751-4548-BA99-F2B8C065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65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75EA8-EB49-4D66-A3D7-22809A6E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8E95E-738A-48E7-88D8-743FE15A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BE44E8-33C6-4412-8B27-B53720FB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57804-E1E2-4715-A339-81973E8B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74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0FBFDD-6EE3-431D-BFD6-56EBE902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177BEB-FC8D-49B6-91F5-B47EAF18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E1235-50FD-4C16-9EC2-061696B3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57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22D4-2F35-4E2A-B9CE-432D1E4D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BAF7-33F1-4B57-9CF1-D2ED8FDB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E5EB3-E422-4EFF-8D14-A509D3B7E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4006B-D129-4353-B925-F634459E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24F72-7AAB-4485-BA62-E25ECF242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01A65-4D64-4ABC-83A2-0422C1751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19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3B4A-2352-47A7-8741-E690FC0F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8D9FE-37C6-4F95-A72B-D68BB3D2C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47B27-AC6C-464D-8251-7A859B220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9B7C0-F181-4403-8648-D69AED7B8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73200-78D4-44DB-BD74-6E0E2FDD5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56450-7FCF-47E1-A3BF-B54704CD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443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5FD-5F16-4173-9E94-2446C997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40971-9AE4-41FF-B003-D089A2C14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0E8BF-1A0E-43E1-8074-BB20BD35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B0D9F-8EEA-4103-96F8-0FDD4363C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02299-25F9-4ED1-BF94-F991CA95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108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3D45B9-ED1D-4BA1-824F-377E399149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618F8-FF2E-43F7-81E5-1A8E56E27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73F8E-01E4-45A1-9880-7E7CB129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6396B-CDB0-4219-9CD4-32BB2A658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DD12B-64D6-418D-A5B6-7212C08A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26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15FE0A-D28F-4F2B-9A11-0507CEBD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58F18-AC79-4FA3-BE45-734AFE368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3DB83-67F7-43C3-9678-28C76C23A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45B6-0662-4025-AEDC-A5B711313073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7265C-5AAA-4818-A6A7-E0253957C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38D4C-694B-4162-9170-7D7C56CB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AD3B7-4700-4921-BF58-461A11FBB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8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9BFA9A-C7D3-4580-83BE-63B5473E19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0"/>
            <a:ext cx="5334000" cy="3556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9015859-B888-42C2-8FD6-28D6453C2A3F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3A4C84-0E2F-4D4B-84BA-F0D3F8A04F5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91C56-BB87-4B1D-B0C1-66DCC69175D1}"/>
              </a:ext>
            </a:extLst>
          </p:cNvPr>
          <p:cNvSpPr txBox="1"/>
          <p:nvPr/>
        </p:nvSpPr>
        <p:spPr>
          <a:xfrm>
            <a:off x="685800" y="863600"/>
            <a:ext cx="584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5400" b="1">
                <a:solidFill>
                  <a:srgbClr val="061024"/>
                </a:solidFill>
                <a:latin typeface="Aptos Display"/>
              </a:rPr>
              <a:t>AgriClaimGuard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09871-BAD2-45DB-A781-1C1482078957}"/>
              </a:ext>
            </a:extLst>
          </p:cNvPr>
          <p:cNvSpPr txBox="1"/>
          <p:nvPr/>
        </p:nvSpPr>
        <p:spPr>
          <a:xfrm>
            <a:off x="736600" y="2032000"/>
            <a:ext cx="571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>
                <a:solidFill>
                  <a:srgbClr val="554133"/>
                </a:solidFill>
                <a:latin typeface="Aptos"/>
              </a:rPr>
              <a:t>Agentic RAG for Crop Insurance Claims Intelligence</a:t>
            </a:r>
            <a:endParaRPr lang="en-IN" sz="2200">
              <a:solidFill>
                <a:srgbClr val="554133"/>
              </a:solidFill>
              <a:latin typeface="Apto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A16AED-FC28-407B-9D90-0607C33AF4C5}"/>
              </a:ext>
            </a:extLst>
          </p:cNvPr>
          <p:cNvSpPr/>
          <p:nvPr/>
        </p:nvSpPr>
        <p:spPr>
          <a:xfrm>
            <a:off x="736600" y="3429000"/>
            <a:ext cx="3302000" cy="147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8FE8D7-94F3-4615-A9F3-65D0086B479E}"/>
              </a:ext>
            </a:extLst>
          </p:cNvPr>
          <p:cNvSpPr/>
          <p:nvPr/>
        </p:nvSpPr>
        <p:spPr>
          <a:xfrm>
            <a:off x="736600" y="3429000"/>
            <a:ext cx="63500" cy="14732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73A492-E367-4A9B-9D84-05212E36AC12}"/>
              </a:ext>
            </a:extLst>
          </p:cNvPr>
          <p:cNvSpPr txBox="1"/>
          <p:nvPr/>
        </p:nvSpPr>
        <p:spPr>
          <a:xfrm>
            <a:off x="939800" y="3581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Competition Pitch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4BF16-F19A-4151-8FD1-594A7AF1B396}"/>
              </a:ext>
            </a:extLst>
          </p:cNvPr>
          <p:cNvSpPr txBox="1"/>
          <p:nvPr/>
        </p:nvSpPr>
        <p:spPr>
          <a:xfrm>
            <a:off x="939800" y="3937000"/>
            <a:ext cx="29464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Enterprise AI platform that retrieves policy clauses, validates evidence, reasons over claims, and produces citation-backed recommendations.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1C8876-79F4-4302-8D50-3F8FFF4DD7ED}"/>
              </a:ext>
            </a:extLst>
          </p:cNvPr>
          <p:cNvSpPr/>
          <p:nvPr/>
        </p:nvSpPr>
        <p:spPr>
          <a:xfrm>
            <a:off x="4343400" y="3429000"/>
            <a:ext cx="3175000" cy="147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BEF28C-47C7-46E0-B224-1A994E70AC6D}"/>
              </a:ext>
            </a:extLst>
          </p:cNvPr>
          <p:cNvSpPr/>
          <p:nvPr/>
        </p:nvSpPr>
        <p:spPr>
          <a:xfrm>
            <a:off x="4343400" y="3429000"/>
            <a:ext cx="63500" cy="1473200"/>
          </a:xfrm>
          <a:prstGeom prst="rect">
            <a:avLst/>
          </a:prstGeom>
          <a:solidFill>
            <a:srgbClr val="227D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61F27-FD91-4885-8A2E-DE00C2CEA4DF}"/>
              </a:ext>
            </a:extLst>
          </p:cNvPr>
          <p:cNvSpPr txBox="1"/>
          <p:nvPr/>
        </p:nvSpPr>
        <p:spPr>
          <a:xfrm>
            <a:off x="4546600" y="3581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Built With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D8A8C1-3401-4505-8A32-D99A447F1734}"/>
              </a:ext>
            </a:extLst>
          </p:cNvPr>
          <p:cNvSpPr txBox="1"/>
          <p:nvPr/>
        </p:nvSpPr>
        <p:spPr>
          <a:xfrm>
            <a:off x="4546600" y="3937000"/>
            <a:ext cx="28194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>
                <a:solidFill>
                  <a:srgbClr val="514137"/>
                </a:solidFill>
                <a:latin typeface="Aptos"/>
              </a:rPr>
              <a:t>LangGraph, LangChain, NVIDIA AI endpoints, Chroma vector store, BM25, and Python.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6F2359-4BD9-40DD-9E12-46B97F648FD4}"/>
              </a:ext>
            </a:extLst>
          </p:cNvPr>
          <p:cNvSpPr/>
          <p:nvPr/>
        </p:nvSpPr>
        <p:spPr>
          <a:xfrm>
            <a:off x="7823200" y="4191000"/>
            <a:ext cx="3175000" cy="147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57B82B-41B3-4216-825B-64462BF2CF6F}"/>
              </a:ext>
            </a:extLst>
          </p:cNvPr>
          <p:cNvSpPr/>
          <p:nvPr/>
        </p:nvSpPr>
        <p:spPr>
          <a:xfrm>
            <a:off x="7823200" y="4191000"/>
            <a:ext cx="63500" cy="1473200"/>
          </a:xfrm>
          <a:prstGeom prst="rect">
            <a:avLst/>
          </a:prstGeom>
          <a:solidFill>
            <a:srgbClr val="E87A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391844-5280-45C3-A340-762DB20A3C69}"/>
              </a:ext>
            </a:extLst>
          </p:cNvPr>
          <p:cNvSpPr txBox="1"/>
          <p:nvPr/>
        </p:nvSpPr>
        <p:spPr>
          <a:xfrm>
            <a:off x="8026400" y="4343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Outcome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13B9AD-5D7C-485D-8BD0-5C2FC2E6139A}"/>
              </a:ext>
            </a:extLst>
          </p:cNvPr>
          <p:cNvSpPr txBox="1"/>
          <p:nvPr/>
        </p:nvSpPr>
        <p:spPr>
          <a:xfrm>
            <a:off x="8026400" y="4699000"/>
            <a:ext cx="2819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Faster, more consistent crop insurance decisions with human oversight and auditable evidence.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1297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C36A30-9B59-4898-A5F9-00AC6B2B7A1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C2434-3860-49CA-8CDF-E6195A5749E3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C4B06-41AA-402F-A779-6E573D084AB2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Crop insurance claim assessment is slow, document-heavy, and difficult to audit.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9D8E4-4DB4-4E50-8E03-7CBF96911488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B6202-9ADF-442C-8EEB-076853802209}"/>
              </a:ext>
            </a:extLst>
          </p:cNvPr>
          <p:cNvSpPr txBox="1"/>
          <p:nvPr/>
        </p:nvSpPr>
        <p:spPr>
          <a:xfrm>
            <a:off x="736600" y="1651000"/>
            <a:ext cx="5461000" cy="2616101"/>
          </a:xfrm>
          <a:prstGeom prst="rect">
            <a:avLst/>
          </a:prstGeom>
          <a:noFill/>
        </p:spPr>
        <p:txBody>
          <a:bodyPr vert="horz" lIns="76200" rIns="7620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37291F"/>
                </a:solidFill>
                <a:latin typeface="Aptos"/>
              </a:rPr>
              <a:t>Manual review across policies, regulations, claim forms, and evidence reports.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37291F"/>
                </a:solidFill>
                <a:latin typeface="Aptos"/>
              </a:rPr>
              <a:t>Weather validation and eligibility checks consume analyst time.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37291F"/>
                </a:solidFill>
                <a:latin typeface="Aptos"/>
              </a:rPr>
              <a:t>Inconsistent decisions create settlement risk and customer dissatisfaction.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37291F"/>
                </a:solidFill>
                <a:latin typeface="Aptos"/>
              </a:rPr>
              <a:t>Limited citation trails make compliance audits difficult.</a:t>
            </a:r>
            <a:endParaRPr lang="en-IN">
              <a:solidFill>
                <a:srgbClr val="37291F"/>
              </a:solidFill>
              <a:latin typeface="Apto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28C21B-0FEE-443D-9C66-0B5008A03C80}"/>
              </a:ext>
            </a:extLst>
          </p:cNvPr>
          <p:cNvSpPr/>
          <p:nvPr/>
        </p:nvSpPr>
        <p:spPr>
          <a:xfrm>
            <a:off x="7112000" y="1625600"/>
            <a:ext cx="3810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52939C-FC27-44DD-87F9-C3C42BA2D51D}"/>
              </a:ext>
            </a:extLst>
          </p:cNvPr>
          <p:cNvSpPr/>
          <p:nvPr/>
        </p:nvSpPr>
        <p:spPr>
          <a:xfrm>
            <a:off x="7112000" y="1625600"/>
            <a:ext cx="63500" cy="2921000"/>
          </a:xfrm>
          <a:prstGeom prst="rect">
            <a:avLst/>
          </a:prstGeom>
          <a:solidFill>
            <a:srgbClr val="E87A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F280EA-E244-491B-BDF6-CD20E0429447}"/>
              </a:ext>
            </a:extLst>
          </p:cNvPr>
          <p:cNvSpPr txBox="1"/>
          <p:nvPr/>
        </p:nvSpPr>
        <p:spPr>
          <a:xfrm>
            <a:off x="7315200" y="17780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Why It Matters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CA9667-B361-4116-BD75-0DB264F7986A}"/>
              </a:ext>
            </a:extLst>
          </p:cNvPr>
          <p:cNvSpPr txBox="1"/>
          <p:nvPr/>
        </p:nvSpPr>
        <p:spPr>
          <a:xfrm>
            <a:off x="7315200" y="2133600"/>
            <a:ext cx="3454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During peak seasons, insurers may need to process thousands of claims. A slow review cycle delays farmer support and increases operating cost.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BD17557-2B22-4A2B-9E59-23AB44AC7B3D}"/>
              </a:ext>
            </a:extLst>
          </p:cNvPr>
          <p:cNvSpPr/>
          <p:nvPr/>
        </p:nvSpPr>
        <p:spPr>
          <a:xfrm>
            <a:off x="7112000" y="4953000"/>
            <a:ext cx="1651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4DE8C-B688-447D-99EC-DA5E4FC424E7}"/>
              </a:ext>
            </a:extLst>
          </p:cNvPr>
          <p:cNvSpPr txBox="1"/>
          <p:nvPr/>
        </p:nvSpPr>
        <p:spPr>
          <a:xfrm>
            <a:off x="7264400" y="5080000"/>
            <a:ext cx="1346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227D3E"/>
                </a:solidFill>
                <a:latin typeface="Aptos Display"/>
              </a:rPr>
              <a:t>&lt; 2 min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4917E0-997D-4DFC-A8C1-458B8ED024A7}"/>
              </a:ext>
            </a:extLst>
          </p:cNvPr>
          <p:cNvSpPr txBox="1"/>
          <p:nvPr/>
        </p:nvSpPr>
        <p:spPr>
          <a:xfrm>
            <a:off x="7264400" y="5511800"/>
            <a:ext cx="1346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Target time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CD3260-B697-42DA-A14E-97E67261DEA0}"/>
              </a:ext>
            </a:extLst>
          </p:cNvPr>
          <p:cNvSpPr/>
          <p:nvPr/>
        </p:nvSpPr>
        <p:spPr>
          <a:xfrm>
            <a:off x="9080500" y="4953000"/>
            <a:ext cx="1651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5FE0F2-67FA-412B-8B50-DF99429DAC3A}"/>
              </a:ext>
            </a:extLst>
          </p:cNvPr>
          <p:cNvSpPr txBox="1"/>
          <p:nvPr/>
        </p:nvSpPr>
        <p:spPr>
          <a:xfrm>
            <a:off x="9232900" y="5080000"/>
            <a:ext cx="1346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1860C0"/>
                </a:solidFill>
                <a:latin typeface="Aptos Display"/>
              </a:rPr>
              <a:t>100%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71F9C-6370-468E-9BCB-6172F9813615}"/>
              </a:ext>
            </a:extLst>
          </p:cNvPr>
          <p:cNvSpPr txBox="1"/>
          <p:nvPr/>
        </p:nvSpPr>
        <p:spPr>
          <a:xfrm>
            <a:off x="9232900" y="5511800"/>
            <a:ext cx="1346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Citation coverage</a:t>
            </a:r>
          </a:p>
        </p:txBody>
      </p:sp>
    </p:spTree>
    <p:extLst>
      <p:ext uri="{BB962C8B-B14F-4D97-AF65-F5344CB8AC3E}">
        <p14:creationId xmlns:p14="http://schemas.microsoft.com/office/powerpoint/2010/main" val="98332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7E8F26-6F33-4B44-8797-47C8C01C3FB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9FF849-6D34-47AC-A685-DDDAB7350901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The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9632A-99FE-4C08-86BF-5BBBC5710C1B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An Agentic RAG platform that retrieves, reasons, validates, and escalates when needed.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79010-64FF-4565-B429-F1075D981525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C4D82E-188C-4CAA-B2ED-2B32CFC9FD46}"/>
              </a:ext>
            </a:extLst>
          </p:cNvPr>
          <p:cNvSpPr/>
          <p:nvPr/>
        </p:nvSpPr>
        <p:spPr>
          <a:xfrm>
            <a:off x="635000" y="1625600"/>
            <a:ext cx="3175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62DA0-38FD-44B8-8FE4-4F7622B61743}"/>
              </a:ext>
            </a:extLst>
          </p:cNvPr>
          <p:cNvSpPr/>
          <p:nvPr/>
        </p:nvSpPr>
        <p:spPr>
          <a:xfrm>
            <a:off x="635000" y="1625600"/>
            <a:ext cx="63500" cy="13970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180E8D-69F1-4364-A655-5309A3F1428B}"/>
              </a:ext>
            </a:extLst>
          </p:cNvPr>
          <p:cNvSpPr txBox="1"/>
          <p:nvPr/>
        </p:nvSpPr>
        <p:spPr>
          <a:xfrm>
            <a:off x="838200" y="17780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Retrieve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1CC54-7BD5-4949-A6AD-A9157B964AB3}"/>
              </a:ext>
            </a:extLst>
          </p:cNvPr>
          <p:cNvSpPr txBox="1"/>
          <p:nvPr/>
        </p:nvSpPr>
        <p:spPr>
          <a:xfrm>
            <a:off x="838200" y="2133600"/>
            <a:ext cx="2819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Find relevant clauses, documents, weather evidence, and similar claims using hybrid search.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6C502F-CEA5-4ECC-BD1E-8C80932266C1}"/>
              </a:ext>
            </a:extLst>
          </p:cNvPr>
          <p:cNvSpPr/>
          <p:nvPr/>
        </p:nvSpPr>
        <p:spPr>
          <a:xfrm>
            <a:off x="4508500" y="1625600"/>
            <a:ext cx="3175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DAF851-82C9-4658-B261-3742C18455EA}"/>
              </a:ext>
            </a:extLst>
          </p:cNvPr>
          <p:cNvSpPr/>
          <p:nvPr/>
        </p:nvSpPr>
        <p:spPr>
          <a:xfrm>
            <a:off x="4508500" y="1625600"/>
            <a:ext cx="63500" cy="1397000"/>
          </a:xfrm>
          <a:prstGeom prst="rect">
            <a:avLst/>
          </a:prstGeom>
          <a:solidFill>
            <a:srgbClr val="C03B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3B0755-5F69-4C8C-B20C-E8EA85779FD3}"/>
              </a:ext>
            </a:extLst>
          </p:cNvPr>
          <p:cNvSpPr txBox="1"/>
          <p:nvPr/>
        </p:nvSpPr>
        <p:spPr>
          <a:xfrm>
            <a:off x="4711700" y="17780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Reason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36F03-C259-42FE-A15F-E6F67DDD3144}"/>
              </a:ext>
            </a:extLst>
          </p:cNvPr>
          <p:cNvSpPr txBox="1"/>
          <p:nvPr/>
        </p:nvSpPr>
        <p:spPr>
          <a:xfrm>
            <a:off x="4711700" y="2133600"/>
            <a:ext cx="2819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Agents synthesize evidence, compare policy conditions, and form a claim recommendation.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966C25-6160-45B1-BF33-E3D1BF2A98DA}"/>
              </a:ext>
            </a:extLst>
          </p:cNvPr>
          <p:cNvSpPr/>
          <p:nvPr/>
        </p:nvSpPr>
        <p:spPr>
          <a:xfrm>
            <a:off x="8382000" y="1625600"/>
            <a:ext cx="3175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FAD31A-6842-4E14-969C-619704B53EA7}"/>
              </a:ext>
            </a:extLst>
          </p:cNvPr>
          <p:cNvSpPr/>
          <p:nvPr/>
        </p:nvSpPr>
        <p:spPr>
          <a:xfrm>
            <a:off x="8382000" y="1625600"/>
            <a:ext cx="63500" cy="1397000"/>
          </a:xfrm>
          <a:prstGeom prst="rect">
            <a:avLst/>
          </a:prstGeom>
          <a:solidFill>
            <a:srgbClr val="227D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08682F-C846-41D3-8EC4-CB38377F43D8}"/>
              </a:ext>
            </a:extLst>
          </p:cNvPr>
          <p:cNvSpPr txBox="1"/>
          <p:nvPr/>
        </p:nvSpPr>
        <p:spPr>
          <a:xfrm>
            <a:off x="8585200" y="17780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Govern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1B3E6D-22D5-49E2-A6DD-DC285FCACEF7}"/>
              </a:ext>
            </a:extLst>
          </p:cNvPr>
          <p:cNvSpPr txBox="1"/>
          <p:nvPr/>
        </p:nvSpPr>
        <p:spPr>
          <a:xfrm>
            <a:off x="8585200" y="2133600"/>
            <a:ext cx="2819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Compliance checks, citations, audit trails, and human review for low-confidence cases.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5C0A95-62FC-4ABD-80DC-3D8845716FD6}"/>
              </a:ext>
            </a:extLst>
          </p:cNvPr>
          <p:cNvCxnSpPr/>
          <p:nvPr/>
        </p:nvCxnSpPr>
        <p:spPr>
          <a:xfrm>
            <a:off x="3810000" y="2324100"/>
            <a:ext cx="698500" cy="0"/>
          </a:xfrm>
          <a:prstGeom prst="straightConnector1">
            <a:avLst/>
          </a:prstGeom>
          <a:ln>
            <a:solidFill>
              <a:srgbClr val="80726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E7E4EF-A796-433D-971C-DB99C5158D65}"/>
              </a:ext>
            </a:extLst>
          </p:cNvPr>
          <p:cNvCxnSpPr/>
          <p:nvPr/>
        </p:nvCxnSpPr>
        <p:spPr>
          <a:xfrm>
            <a:off x="7683500" y="2324100"/>
            <a:ext cx="698500" cy="0"/>
          </a:xfrm>
          <a:prstGeom prst="straightConnector1">
            <a:avLst/>
          </a:prstGeom>
          <a:ln>
            <a:solidFill>
              <a:srgbClr val="80726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4BF833-EFD4-4EE3-A315-010B076AF516}"/>
              </a:ext>
            </a:extLst>
          </p:cNvPr>
          <p:cNvSpPr txBox="1"/>
          <p:nvPr/>
        </p:nvSpPr>
        <p:spPr>
          <a:xfrm>
            <a:off x="990600" y="3937000"/>
            <a:ext cx="9906000" cy="1241365"/>
          </a:xfrm>
          <a:prstGeom prst="rect">
            <a:avLst/>
          </a:prstGeom>
          <a:noFill/>
        </p:spPr>
        <p:txBody>
          <a:bodyPr vert="horz" lIns="76200" rIns="7620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37291F"/>
                </a:solidFill>
                <a:latin typeface="Aptos"/>
              </a:rPr>
              <a:t>Designed to reduce assessment time by 70%, improve consistency, and provide explainable recommendations.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37291F"/>
                </a:solidFill>
                <a:latin typeface="Aptos"/>
              </a:rPr>
              <a:t>Human-in-the-loop review remains central for contradictory evidence, compliance concerns, or confidence below threshold.</a:t>
            </a:r>
            <a:endParaRPr lang="en-IN" sz="1700">
              <a:solidFill>
                <a:srgbClr val="37291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7969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96EEA5-7BD5-4ACD-8F3C-A3F90730305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76F9C-ABE0-4791-ABEE-19916027698A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Product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C00DE-B4B8-4C32-9BD9-B3EAE25BE789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From project PRD: enterprise-grade claim intelligence with explainability and oversight.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2D8C5-5DA4-43FF-AFB7-D6473FB2ABE0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7D218A-49FD-4BDB-8B27-66FC7E9D8755}"/>
              </a:ext>
            </a:extLst>
          </p:cNvPr>
          <p:cNvSpPr/>
          <p:nvPr/>
        </p:nvSpPr>
        <p:spPr>
          <a:xfrm>
            <a:off x="609600" y="1524000"/>
            <a:ext cx="3302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551963-1911-4D59-B871-3C8DBA98EB27}"/>
              </a:ext>
            </a:extLst>
          </p:cNvPr>
          <p:cNvSpPr/>
          <p:nvPr/>
        </p:nvSpPr>
        <p:spPr>
          <a:xfrm>
            <a:off x="609600" y="1524000"/>
            <a:ext cx="63500" cy="34290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653D9-90F9-442E-A36C-819CD0E28F18}"/>
              </a:ext>
            </a:extLst>
          </p:cNvPr>
          <p:cNvSpPr txBox="1"/>
          <p:nvPr/>
        </p:nvSpPr>
        <p:spPr>
          <a:xfrm>
            <a:off x="812800" y="1676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MVP 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74D35-034C-4B82-8E16-B5E95FC8CE73}"/>
              </a:ext>
            </a:extLst>
          </p:cNvPr>
          <p:cNvSpPr txBox="1"/>
          <p:nvPr/>
        </p:nvSpPr>
        <p:spPr>
          <a:xfrm>
            <a:off x="812800" y="2032000"/>
            <a:ext cx="29464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Submit claim queries
Retrieve relevant documents
Run multi-agent workflow
Return recommendation, confidence, evidence, and citations
Support human review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348C3F-570B-4207-B7F3-E632AA79589A}"/>
              </a:ext>
            </a:extLst>
          </p:cNvPr>
          <p:cNvSpPr/>
          <p:nvPr/>
        </p:nvSpPr>
        <p:spPr>
          <a:xfrm>
            <a:off x="4445000" y="1524000"/>
            <a:ext cx="3302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8A0834-E123-43D3-85CC-0AAEC6B657CC}"/>
              </a:ext>
            </a:extLst>
          </p:cNvPr>
          <p:cNvSpPr/>
          <p:nvPr/>
        </p:nvSpPr>
        <p:spPr>
          <a:xfrm>
            <a:off x="4445000" y="1524000"/>
            <a:ext cx="63500" cy="3429000"/>
          </a:xfrm>
          <a:prstGeom prst="rect">
            <a:avLst/>
          </a:prstGeom>
          <a:solidFill>
            <a:srgbClr val="227D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746EC3-41D2-417B-95AC-5BE142BACF84}"/>
              </a:ext>
            </a:extLst>
          </p:cNvPr>
          <p:cNvSpPr txBox="1"/>
          <p:nvPr/>
        </p:nvSpPr>
        <p:spPr>
          <a:xfrm>
            <a:off x="4648200" y="1676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Target 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E6ED7A-7FB0-4285-AB66-33825147203F}"/>
              </a:ext>
            </a:extLst>
          </p:cNvPr>
          <p:cNvSpPr txBox="1"/>
          <p:nvPr/>
        </p:nvSpPr>
        <p:spPr>
          <a:xfrm>
            <a:off x="4648200" y="2032000"/>
            <a:ext cx="2946400" cy="9771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Claim adjusters
Insurance analysts
Compliance officers
Supervisors reviewing low-confidence decisions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0B4F8A0-B511-43A2-A234-078C52F787D5}"/>
              </a:ext>
            </a:extLst>
          </p:cNvPr>
          <p:cNvSpPr/>
          <p:nvPr/>
        </p:nvSpPr>
        <p:spPr>
          <a:xfrm>
            <a:off x="8280400" y="1524000"/>
            <a:ext cx="3302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3FE3BC-2B3E-4CEA-AF8C-7A8B4507E5EC}"/>
              </a:ext>
            </a:extLst>
          </p:cNvPr>
          <p:cNvSpPr/>
          <p:nvPr/>
        </p:nvSpPr>
        <p:spPr>
          <a:xfrm>
            <a:off x="8280400" y="1524000"/>
            <a:ext cx="63500" cy="3429000"/>
          </a:xfrm>
          <a:prstGeom prst="rect">
            <a:avLst/>
          </a:prstGeom>
          <a:solidFill>
            <a:srgbClr val="E87A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29DA-EF8F-41E3-9DDE-ADEC188D9370}"/>
              </a:ext>
            </a:extLst>
          </p:cNvPr>
          <p:cNvSpPr txBox="1"/>
          <p:nvPr/>
        </p:nvSpPr>
        <p:spPr>
          <a:xfrm>
            <a:off x="8483600" y="1676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Data Sources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694E1B-D541-467A-AC43-10B532361894}"/>
              </a:ext>
            </a:extLst>
          </p:cNvPr>
          <p:cNvSpPr txBox="1"/>
          <p:nvPr/>
        </p:nvSpPr>
        <p:spPr>
          <a:xfrm>
            <a:off x="8483600" y="2032000"/>
            <a:ext cx="2946400" cy="9771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Insurance policies
Government regulations
Weather APIs and reports
Historical claims
Farmer submissions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78480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EDD28E-3F67-4095-867D-88595BE2482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46CF0-9918-4CCE-8712-CE6AEBDC0482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Reference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1E092-8636-46A7-9918-07BC32BA8D65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Full Agentic RAG architecture from the project assets.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2EEE7-0540-4E82-B962-67D18519BECF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F1E3DC-5D99-4F69-9992-B727FBE4C89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1168400"/>
            <a:ext cx="11480800" cy="49784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48976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2F7453-F105-4F58-AD72-AD94296F0F0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EE3C3-B2B9-48CC-AB2E-E46D3FA654CF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Current Repository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B90DF6-15CD-4C72-A7A3-53BA02A4BF90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The codebase implements the ingestion and hybrid retrieval core of the platform.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8B552-2CC6-48DD-B9A5-BD05214F1AD2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1348C3-DD2F-44A1-8F3F-F843BEB3A800}"/>
              </a:ext>
            </a:extLst>
          </p:cNvPr>
          <p:cNvSpPr/>
          <p:nvPr/>
        </p:nvSpPr>
        <p:spPr>
          <a:xfrm>
            <a:off x="584200" y="1460500"/>
            <a:ext cx="3365500" cy="162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2E8184-D666-42D6-90E7-F31DFB917049}"/>
              </a:ext>
            </a:extLst>
          </p:cNvPr>
          <p:cNvSpPr/>
          <p:nvPr/>
        </p:nvSpPr>
        <p:spPr>
          <a:xfrm>
            <a:off x="584200" y="1460500"/>
            <a:ext cx="63500" cy="1625600"/>
          </a:xfrm>
          <a:prstGeom prst="rect">
            <a:avLst/>
          </a:prstGeom>
          <a:solidFill>
            <a:srgbClr val="C03B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B847E2-5132-4991-B5DC-C143E45F0BA0}"/>
              </a:ext>
            </a:extLst>
          </p:cNvPr>
          <p:cNvSpPr txBox="1"/>
          <p:nvPr/>
        </p:nvSpPr>
        <p:spPr>
          <a:xfrm>
            <a:off x="787400" y="1612900"/>
            <a:ext cx="300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LangGraph State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7CCC4-20AD-4B02-B33E-55740591ECC7}"/>
              </a:ext>
            </a:extLst>
          </p:cNvPr>
          <p:cNvSpPr txBox="1"/>
          <p:nvPr/>
        </p:nvSpPr>
        <p:spPr>
          <a:xfrm>
            <a:off x="787400" y="1968500"/>
            <a:ext cx="30099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>
                <a:solidFill>
                  <a:srgbClr val="514137"/>
                </a:solidFill>
                <a:latin typeface="Aptos"/>
              </a:rPr>
              <a:t>Rag_State tracks query, document paths, loaded documents, chunks, vector store, BM25 index, and retriever outputs.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73E65A-7F32-402E-9095-842605E24FE5}"/>
              </a:ext>
            </a:extLst>
          </p:cNvPr>
          <p:cNvSpPr/>
          <p:nvPr/>
        </p:nvSpPr>
        <p:spPr>
          <a:xfrm>
            <a:off x="4406900" y="1460500"/>
            <a:ext cx="3365500" cy="162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E92F2B-5BB9-4812-B88C-8E7033DBEE4A}"/>
              </a:ext>
            </a:extLst>
          </p:cNvPr>
          <p:cNvSpPr/>
          <p:nvPr/>
        </p:nvSpPr>
        <p:spPr>
          <a:xfrm>
            <a:off x="4406900" y="1460500"/>
            <a:ext cx="63500" cy="1625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60C412-D7D5-4826-9180-FF102BF6DC60}"/>
              </a:ext>
            </a:extLst>
          </p:cNvPr>
          <p:cNvSpPr txBox="1"/>
          <p:nvPr/>
        </p:nvSpPr>
        <p:spPr>
          <a:xfrm>
            <a:off x="4610100" y="1612900"/>
            <a:ext cx="300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Document Pipeline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3FAD0C-DAD7-42AE-9369-FC2E5BFAD10F}"/>
              </a:ext>
            </a:extLst>
          </p:cNvPr>
          <p:cNvSpPr txBox="1"/>
          <p:nvPr/>
        </p:nvSpPr>
        <p:spPr>
          <a:xfrm>
            <a:off x="4610100" y="1968500"/>
            <a:ext cx="30099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>
                <a:solidFill>
                  <a:srgbClr val="514137"/>
                </a:solidFill>
                <a:latin typeface="Aptos"/>
              </a:rPr>
              <a:t>safe_file_renamer -&gt; PyMuPDFLoader -&gt; RecursiveCharacterTextSplitter with 1000 chunk size and 300 overlap.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D8F657-1D7F-4E6F-AED5-3C1C8E4052C5}"/>
              </a:ext>
            </a:extLst>
          </p:cNvPr>
          <p:cNvSpPr/>
          <p:nvPr/>
        </p:nvSpPr>
        <p:spPr>
          <a:xfrm>
            <a:off x="8229600" y="1460500"/>
            <a:ext cx="3365500" cy="162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05051F-F4F2-4026-A276-DA75504A48DF}"/>
              </a:ext>
            </a:extLst>
          </p:cNvPr>
          <p:cNvSpPr/>
          <p:nvPr/>
        </p:nvSpPr>
        <p:spPr>
          <a:xfrm>
            <a:off x="8229600" y="1460500"/>
            <a:ext cx="63500" cy="1625600"/>
          </a:xfrm>
          <a:prstGeom prst="rect">
            <a:avLst/>
          </a:prstGeom>
          <a:solidFill>
            <a:srgbClr val="227D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B8F8CD-9F52-4956-A5B5-518A8CA3C966}"/>
              </a:ext>
            </a:extLst>
          </p:cNvPr>
          <p:cNvSpPr txBox="1"/>
          <p:nvPr/>
        </p:nvSpPr>
        <p:spPr>
          <a:xfrm>
            <a:off x="8432800" y="1612900"/>
            <a:ext cx="300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Retrieval Pipeline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2EA711-7484-4D75-B06C-D527EA953276}"/>
              </a:ext>
            </a:extLst>
          </p:cNvPr>
          <p:cNvSpPr txBox="1"/>
          <p:nvPr/>
        </p:nvSpPr>
        <p:spPr>
          <a:xfrm>
            <a:off x="8432800" y="1968500"/>
            <a:ext cx="30099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Chroma semantic retriever and BM25 sparse retriever are combined through EnsembleRetriever.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72FF1D-87DF-4B9E-B895-CDCCA5269BA9}"/>
              </a:ext>
            </a:extLst>
          </p:cNvPr>
          <p:cNvSpPr txBox="1"/>
          <p:nvPr/>
        </p:nvSpPr>
        <p:spPr>
          <a:xfrm>
            <a:off x="889000" y="3937000"/>
            <a:ext cx="10033000" cy="1036181"/>
          </a:xfrm>
          <a:prstGeom prst="rect">
            <a:avLst/>
          </a:prstGeom>
          <a:noFill/>
        </p:spPr>
        <p:txBody>
          <a:bodyPr vert="horz" lIns="76200" rIns="7620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7291F"/>
                </a:solidFill>
                <a:latin typeface="Aptos"/>
              </a:rPr>
              <a:t>Current query example: What is the eligibility for drought compensation?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7291F"/>
                </a:solidFill>
                <a:latin typeface="Aptos"/>
              </a:rPr>
              <a:t>Vector storage persists to ./chroma_db and BM25 chunks persist to ./storage/chunks.pkl.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7291F"/>
                </a:solidFill>
                <a:latin typeface="Aptos"/>
              </a:rPr>
              <a:t>NVIDIA endpoints provide embeddings and chat model configuration through environment variables.</a:t>
            </a:r>
          </a:p>
        </p:txBody>
      </p:sp>
    </p:spTree>
    <p:extLst>
      <p:ext uri="{BB962C8B-B14F-4D97-AF65-F5344CB8AC3E}">
        <p14:creationId xmlns:p14="http://schemas.microsoft.com/office/powerpoint/2010/main" val="195008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ACE0E5-0CBE-4894-8495-3C5137CF2DC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600E1-9213-404A-9FCE-6508DF83E082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LangGraph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8A597-7F9C-4D9C-B651-ABD9B7B09391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The ingestion graph generated by the application.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D4F33-E744-43F1-B5A2-571DE4DD931D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10B048-7753-4F85-A7EF-EA106CF6D31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270000"/>
            <a:ext cx="2921000" cy="4826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87C01A-A728-494B-869E-E71920B5D30D}"/>
              </a:ext>
            </a:extLst>
          </p:cNvPr>
          <p:cNvSpPr/>
          <p:nvPr/>
        </p:nvSpPr>
        <p:spPr>
          <a:xfrm>
            <a:off x="4953000" y="1524000"/>
            <a:ext cx="5334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E0AFDB-7322-4A3D-AE55-75456933AF90}"/>
              </a:ext>
            </a:extLst>
          </p:cNvPr>
          <p:cNvSpPr/>
          <p:nvPr/>
        </p:nvSpPr>
        <p:spPr>
          <a:xfrm>
            <a:off x="4953000" y="1524000"/>
            <a:ext cx="63500" cy="10922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903786-3C8E-4121-8CDA-EF79881D80E1}"/>
              </a:ext>
            </a:extLst>
          </p:cNvPr>
          <p:cNvSpPr txBox="1"/>
          <p:nvPr/>
        </p:nvSpPr>
        <p:spPr>
          <a:xfrm>
            <a:off x="5156200" y="1676400"/>
            <a:ext cx="4978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1. Normalize &amp; Load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8A9E67-42FB-4E16-A0D3-38C271DBC51E}"/>
              </a:ext>
            </a:extLst>
          </p:cNvPr>
          <p:cNvSpPr txBox="1"/>
          <p:nvPr/>
        </p:nvSpPr>
        <p:spPr>
          <a:xfrm>
            <a:off x="5156200" y="2032000"/>
            <a:ext cx="49784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Rename unsafe files, discover documents, and load PDFs into LangChain Document objects.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773E2E-26A6-41AE-8616-0310EAAEAF75}"/>
              </a:ext>
            </a:extLst>
          </p:cNvPr>
          <p:cNvSpPr/>
          <p:nvPr/>
        </p:nvSpPr>
        <p:spPr>
          <a:xfrm>
            <a:off x="4953000" y="2921000"/>
            <a:ext cx="5334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89AE78-2A46-482F-B8E7-35726DE9131E}"/>
              </a:ext>
            </a:extLst>
          </p:cNvPr>
          <p:cNvSpPr/>
          <p:nvPr/>
        </p:nvSpPr>
        <p:spPr>
          <a:xfrm>
            <a:off x="4953000" y="2921000"/>
            <a:ext cx="63500" cy="1092200"/>
          </a:xfrm>
          <a:prstGeom prst="rect">
            <a:avLst/>
          </a:prstGeom>
          <a:solidFill>
            <a:srgbClr val="C03B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E32BB4-A03E-4845-A0D1-6B9A839984F8}"/>
              </a:ext>
            </a:extLst>
          </p:cNvPr>
          <p:cNvSpPr txBox="1"/>
          <p:nvPr/>
        </p:nvSpPr>
        <p:spPr>
          <a:xfrm>
            <a:off x="5156200" y="3073400"/>
            <a:ext cx="4978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2. Chunk Once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735C7-BBD0-412E-BE03-A9833BCAD8DC}"/>
              </a:ext>
            </a:extLst>
          </p:cNvPr>
          <p:cNvSpPr txBox="1"/>
          <p:nvPr/>
        </p:nvSpPr>
        <p:spPr>
          <a:xfrm>
            <a:off x="5156200" y="3429000"/>
            <a:ext cx="49784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Split long policy documents into overlapping chunks for retrievable context.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85EE2F1-7D3B-456E-8533-85C2AE989CBC}"/>
              </a:ext>
            </a:extLst>
          </p:cNvPr>
          <p:cNvSpPr/>
          <p:nvPr/>
        </p:nvSpPr>
        <p:spPr>
          <a:xfrm>
            <a:off x="4953000" y="4318000"/>
            <a:ext cx="5334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61F5E4-4673-4297-B367-6EF0AF2777E6}"/>
              </a:ext>
            </a:extLst>
          </p:cNvPr>
          <p:cNvSpPr/>
          <p:nvPr/>
        </p:nvSpPr>
        <p:spPr>
          <a:xfrm>
            <a:off x="4953000" y="4318000"/>
            <a:ext cx="63500" cy="1092200"/>
          </a:xfrm>
          <a:prstGeom prst="rect">
            <a:avLst/>
          </a:prstGeom>
          <a:solidFill>
            <a:srgbClr val="227D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B8FE60-217C-49D3-BF87-9F669C7A9417}"/>
              </a:ext>
            </a:extLst>
          </p:cNvPr>
          <p:cNvSpPr txBox="1"/>
          <p:nvPr/>
        </p:nvSpPr>
        <p:spPr>
          <a:xfrm>
            <a:off x="5156200" y="4470400"/>
            <a:ext cx="4978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3. Index in Parallel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87139-968D-449C-8BE6-F399FA007392}"/>
              </a:ext>
            </a:extLst>
          </p:cNvPr>
          <p:cNvSpPr txBox="1"/>
          <p:nvPr/>
        </p:nvSpPr>
        <p:spPr>
          <a:xfrm>
            <a:off x="5156200" y="4826000"/>
            <a:ext cx="49784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Build semantic vectors and BM25 keyword index, then combine results through hybrid retrieval.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72550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DC3AF7-F77A-42FA-A0F6-39614E0BACE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4E74F-D54D-4CDD-A077-F62F4FE1114E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Hybrid Retrieval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703BF-A96E-4684-B52E-FED4EDC1AAAF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Dense semantic search plus sparse keyword search improves policy lookup reliability.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D4CB5-655C-49B4-9777-AB0FB69286FD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852E6C-556E-4DAB-8DE0-092EBBBED967}"/>
              </a:ext>
            </a:extLst>
          </p:cNvPr>
          <p:cNvSpPr/>
          <p:nvPr/>
        </p:nvSpPr>
        <p:spPr>
          <a:xfrm>
            <a:off x="889000" y="1524000"/>
            <a:ext cx="1905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9148C-AC9A-469F-A8E9-02849DA45E55}"/>
              </a:ext>
            </a:extLst>
          </p:cNvPr>
          <p:cNvSpPr txBox="1"/>
          <p:nvPr/>
        </p:nvSpPr>
        <p:spPr>
          <a:xfrm>
            <a:off x="1041400" y="1651000"/>
            <a:ext cx="1600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1860C0"/>
                </a:solidFill>
                <a:latin typeface="Aptos Display"/>
              </a:rPr>
              <a:t>70%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FBD9B-FF94-484B-9BFF-2D152E3B0A02}"/>
              </a:ext>
            </a:extLst>
          </p:cNvPr>
          <p:cNvSpPr txBox="1"/>
          <p:nvPr/>
        </p:nvSpPr>
        <p:spPr>
          <a:xfrm>
            <a:off x="1041400" y="2082800"/>
            <a:ext cx="1600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Semantic weight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C7CAB1-63FD-466A-91C4-65994CE7CCA5}"/>
              </a:ext>
            </a:extLst>
          </p:cNvPr>
          <p:cNvSpPr/>
          <p:nvPr/>
        </p:nvSpPr>
        <p:spPr>
          <a:xfrm>
            <a:off x="3175000" y="1524000"/>
            <a:ext cx="1905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8E4AC3-3ABB-4E4B-AFA7-E1652C4E078E}"/>
              </a:ext>
            </a:extLst>
          </p:cNvPr>
          <p:cNvSpPr txBox="1"/>
          <p:nvPr/>
        </p:nvSpPr>
        <p:spPr>
          <a:xfrm>
            <a:off x="3327400" y="1651000"/>
            <a:ext cx="1600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E87A1F"/>
                </a:solidFill>
                <a:latin typeface="Aptos Display"/>
              </a:rPr>
              <a:t>30%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1A7A7-4AC0-470D-86FB-F0CF9D142724}"/>
              </a:ext>
            </a:extLst>
          </p:cNvPr>
          <p:cNvSpPr txBox="1"/>
          <p:nvPr/>
        </p:nvSpPr>
        <p:spPr>
          <a:xfrm>
            <a:off x="3327400" y="2082800"/>
            <a:ext cx="1600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BM25 weight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9C53D7-DAFB-487E-9C86-EAB986B75F88}"/>
              </a:ext>
            </a:extLst>
          </p:cNvPr>
          <p:cNvSpPr/>
          <p:nvPr/>
        </p:nvSpPr>
        <p:spPr>
          <a:xfrm>
            <a:off x="5461000" y="1524000"/>
            <a:ext cx="1905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EE5CF8-F214-4743-9603-6D966EFA603E}"/>
              </a:ext>
            </a:extLst>
          </p:cNvPr>
          <p:cNvSpPr txBox="1"/>
          <p:nvPr/>
        </p:nvSpPr>
        <p:spPr>
          <a:xfrm>
            <a:off x="5613400" y="1651000"/>
            <a:ext cx="1600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227D3E"/>
                </a:solidFill>
                <a:latin typeface="Aptos Display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8CB700-CB3E-43ED-A1D1-4F09E8A74AB9}"/>
              </a:ext>
            </a:extLst>
          </p:cNvPr>
          <p:cNvSpPr txBox="1"/>
          <p:nvPr/>
        </p:nvSpPr>
        <p:spPr>
          <a:xfrm>
            <a:off x="5613400" y="2082800"/>
            <a:ext cx="1600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Top-k each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A4030F-A98F-47B2-A4BB-7358C852FC97}"/>
              </a:ext>
            </a:extLst>
          </p:cNvPr>
          <p:cNvSpPr/>
          <p:nvPr/>
        </p:nvSpPr>
        <p:spPr>
          <a:xfrm>
            <a:off x="889000" y="3111500"/>
            <a:ext cx="3048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BCC69-D9B5-4778-8634-2F1F483ACB1E}"/>
              </a:ext>
            </a:extLst>
          </p:cNvPr>
          <p:cNvSpPr/>
          <p:nvPr/>
        </p:nvSpPr>
        <p:spPr>
          <a:xfrm>
            <a:off x="889000" y="3111500"/>
            <a:ext cx="63500" cy="18415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1ED28C-C523-4028-8EB6-A307513B3ADB}"/>
              </a:ext>
            </a:extLst>
          </p:cNvPr>
          <p:cNvSpPr txBox="1"/>
          <p:nvPr/>
        </p:nvSpPr>
        <p:spPr>
          <a:xfrm>
            <a:off x="1092200" y="3263900"/>
            <a:ext cx="269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Dense Retrieval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9B4AF-2CB9-49AF-BFC0-2CB1E32FD7F4}"/>
              </a:ext>
            </a:extLst>
          </p:cNvPr>
          <p:cNvSpPr txBox="1"/>
          <p:nvPr/>
        </p:nvSpPr>
        <p:spPr>
          <a:xfrm>
            <a:off x="1092200" y="3619500"/>
            <a:ext cx="26924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Captures meaning: drought compensation, eligibility criteria, claim terms, and similar clauses even when wording differs.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77CB183-A16F-4347-9508-ED47F95F4669}"/>
              </a:ext>
            </a:extLst>
          </p:cNvPr>
          <p:cNvSpPr/>
          <p:nvPr/>
        </p:nvSpPr>
        <p:spPr>
          <a:xfrm>
            <a:off x="4572000" y="3111500"/>
            <a:ext cx="3048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778628-CC8C-4E45-AD1C-3E8A1F14A78F}"/>
              </a:ext>
            </a:extLst>
          </p:cNvPr>
          <p:cNvSpPr/>
          <p:nvPr/>
        </p:nvSpPr>
        <p:spPr>
          <a:xfrm>
            <a:off x="4572000" y="3111500"/>
            <a:ext cx="63500" cy="1841500"/>
          </a:xfrm>
          <a:prstGeom prst="rect">
            <a:avLst/>
          </a:prstGeom>
          <a:solidFill>
            <a:srgbClr val="E87A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286AA3-1951-42EA-AD94-77236D9B106C}"/>
              </a:ext>
            </a:extLst>
          </p:cNvPr>
          <p:cNvSpPr txBox="1"/>
          <p:nvPr/>
        </p:nvSpPr>
        <p:spPr>
          <a:xfrm>
            <a:off x="4775200" y="3263900"/>
            <a:ext cx="269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Sparse Retrieval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CB030A-7165-47AD-ABC2-ECCFA48F32A9}"/>
              </a:ext>
            </a:extLst>
          </p:cNvPr>
          <p:cNvSpPr txBox="1"/>
          <p:nvPr/>
        </p:nvSpPr>
        <p:spPr>
          <a:xfrm>
            <a:off x="4775200" y="3619500"/>
            <a:ext cx="2692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Captures exact terms: policy IDs, clause numbers, crop names, districts, and regulation keywords.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777D634-5EBE-49A0-AC48-06C2A3D70946}"/>
              </a:ext>
            </a:extLst>
          </p:cNvPr>
          <p:cNvSpPr/>
          <p:nvPr/>
        </p:nvSpPr>
        <p:spPr>
          <a:xfrm>
            <a:off x="8255000" y="3111500"/>
            <a:ext cx="3048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D017DD-DD81-4B0D-962B-C9C975287817}"/>
              </a:ext>
            </a:extLst>
          </p:cNvPr>
          <p:cNvSpPr/>
          <p:nvPr/>
        </p:nvSpPr>
        <p:spPr>
          <a:xfrm>
            <a:off x="8255000" y="3111500"/>
            <a:ext cx="63500" cy="1841500"/>
          </a:xfrm>
          <a:prstGeom prst="rect">
            <a:avLst/>
          </a:prstGeom>
          <a:solidFill>
            <a:srgbClr val="227D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B9AD3C-C911-4915-BC80-69A27028A6A0}"/>
              </a:ext>
            </a:extLst>
          </p:cNvPr>
          <p:cNvSpPr txBox="1"/>
          <p:nvPr/>
        </p:nvSpPr>
        <p:spPr>
          <a:xfrm>
            <a:off x="8458200" y="3263900"/>
            <a:ext cx="269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Ensemble Result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E1F7AC-6F04-4362-A33A-F671880908FE}"/>
              </a:ext>
            </a:extLst>
          </p:cNvPr>
          <p:cNvSpPr txBox="1"/>
          <p:nvPr/>
        </p:nvSpPr>
        <p:spPr>
          <a:xfrm>
            <a:off x="8458200" y="3619500"/>
            <a:ext cx="2692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Combines both retrievers to return stronger evidence for downstream claim reasoning.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50643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849F6-2567-4C35-A82C-E26B668721D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0BA306-B196-4C94-AB23-EEA8DB417E57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Agentic Claim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2C86C-4B26-48B2-989F-2CFCFE849ED2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How the complete PRD vision extends the current RAG core.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F3924-855C-4C46-99CF-F7822D98C165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AA8B26-3682-40C6-B73A-7763B36949AD}"/>
              </a:ext>
            </a:extLst>
          </p:cNvPr>
          <p:cNvSpPr/>
          <p:nvPr/>
        </p:nvSpPr>
        <p:spPr>
          <a:xfrm>
            <a:off x="558800" y="1905000"/>
            <a:ext cx="1193800" cy="965200"/>
          </a:xfrm>
          <a:prstGeom prst="roundRect">
            <a:avLst/>
          </a:prstGeom>
          <a:solidFill>
            <a:srgbClr val="FFFFFF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8618A-CD7C-4F4E-B2DB-D156375D1F12}"/>
              </a:ext>
            </a:extLst>
          </p:cNvPr>
          <p:cNvSpPr txBox="1"/>
          <p:nvPr/>
        </p:nvSpPr>
        <p:spPr>
          <a:xfrm>
            <a:off x="660400" y="2184400"/>
            <a:ext cx="9906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 b="1">
                <a:solidFill>
                  <a:srgbClr val="061024"/>
                </a:solidFill>
                <a:latin typeface="Aptos"/>
              </a:rPr>
              <a:t>Query intake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BF1E1F-83B0-43D2-8EA7-B1697CCF3751}"/>
              </a:ext>
            </a:extLst>
          </p:cNvPr>
          <p:cNvCxnSpPr/>
          <p:nvPr/>
        </p:nvCxnSpPr>
        <p:spPr>
          <a:xfrm>
            <a:off x="1752600" y="2387600"/>
            <a:ext cx="228600" cy="0"/>
          </a:xfrm>
          <a:prstGeom prst="straightConnector1">
            <a:avLst/>
          </a:prstGeom>
          <a:ln>
            <a:solidFill>
              <a:srgbClr val="80726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111DAC-F957-4F64-BC6D-E7910BE3925E}"/>
              </a:ext>
            </a:extLst>
          </p:cNvPr>
          <p:cNvSpPr/>
          <p:nvPr/>
        </p:nvSpPr>
        <p:spPr>
          <a:xfrm>
            <a:off x="1981200" y="1905000"/>
            <a:ext cx="1193800" cy="965200"/>
          </a:xfrm>
          <a:prstGeom prst="roundRect">
            <a:avLst/>
          </a:prstGeom>
          <a:solidFill>
            <a:srgbClr val="FFFFFF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D98052-D4CB-4EC4-93E0-BAC830BD6DD5}"/>
              </a:ext>
            </a:extLst>
          </p:cNvPr>
          <p:cNvSpPr txBox="1"/>
          <p:nvPr/>
        </p:nvSpPr>
        <p:spPr>
          <a:xfrm>
            <a:off x="2082800" y="2184400"/>
            <a:ext cx="9906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 b="1">
                <a:solidFill>
                  <a:srgbClr val="061024"/>
                </a:solidFill>
                <a:latin typeface="Aptos"/>
              </a:rPr>
              <a:t>Intent understanding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31F87D-5D0D-479D-93B2-B8FE96462F41}"/>
              </a:ext>
            </a:extLst>
          </p:cNvPr>
          <p:cNvCxnSpPr/>
          <p:nvPr/>
        </p:nvCxnSpPr>
        <p:spPr>
          <a:xfrm>
            <a:off x="3175000" y="2387600"/>
            <a:ext cx="228600" cy="0"/>
          </a:xfrm>
          <a:prstGeom prst="straightConnector1">
            <a:avLst/>
          </a:prstGeom>
          <a:ln>
            <a:solidFill>
              <a:srgbClr val="80726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C34FDC-E159-44E8-9D90-B8AF516A4C15}"/>
              </a:ext>
            </a:extLst>
          </p:cNvPr>
          <p:cNvSpPr/>
          <p:nvPr/>
        </p:nvSpPr>
        <p:spPr>
          <a:xfrm>
            <a:off x="3403600" y="1905000"/>
            <a:ext cx="1193800" cy="965200"/>
          </a:xfrm>
          <a:prstGeom prst="roundRect">
            <a:avLst/>
          </a:prstGeom>
          <a:solidFill>
            <a:srgbClr val="FFFFFF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A76711-2BBC-4DB6-A31E-6775B81EAD53}"/>
              </a:ext>
            </a:extLst>
          </p:cNvPr>
          <p:cNvSpPr txBox="1"/>
          <p:nvPr/>
        </p:nvSpPr>
        <p:spPr>
          <a:xfrm>
            <a:off x="3505200" y="2184400"/>
            <a:ext cx="990600" cy="5770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 b="1">
                <a:solidFill>
                  <a:srgbClr val="061024"/>
                </a:solidFill>
                <a:latin typeface="Aptos"/>
              </a:rPr>
              <a:t>Task decomposition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9386FA-784C-4DB4-B891-E84A9BBA1914}"/>
              </a:ext>
            </a:extLst>
          </p:cNvPr>
          <p:cNvCxnSpPr/>
          <p:nvPr/>
        </p:nvCxnSpPr>
        <p:spPr>
          <a:xfrm>
            <a:off x="4597400" y="2387600"/>
            <a:ext cx="228600" cy="0"/>
          </a:xfrm>
          <a:prstGeom prst="straightConnector1">
            <a:avLst/>
          </a:prstGeom>
          <a:ln>
            <a:solidFill>
              <a:srgbClr val="80726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EE01EB-1A2F-4F45-B1CB-25A49A91E3DD}"/>
              </a:ext>
            </a:extLst>
          </p:cNvPr>
          <p:cNvSpPr/>
          <p:nvPr/>
        </p:nvSpPr>
        <p:spPr>
          <a:xfrm>
            <a:off x="4826000" y="1905000"/>
            <a:ext cx="1193800" cy="965200"/>
          </a:xfrm>
          <a:prstGeom prst="roundRect">
            <a:avLst/>
          </a:prstGeom>
          <a:solidFill>
            <a:srgbClr val="FFFFFF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0551B0-12AC-4606-AD2E-195B1254522C}"/>
              </a:ext>
            </a:extLst>
          </p:cNvPr>
          <p:cNvSpPr txBox="1"/>
          <p:nvPr/>
        </p:nvSpPr>
        <p:spPr>
          <a:xfrm>
            <a:off x="4927600" y="2184400"/>
            <a:ext cx="9906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 b="1">
                <a:solidFill>
                  <a:srgbClr val="061024"/>
                </a:solidFill>
                <a:latin typeface="Aptos"/>
              </a:rPr>
              <a:t>Tool/API calls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97F528-D57C-48AB-BEBD-CDC51C70343C}"/>
              </a:ext>
            </a:extLst>
          </p:cNvPr>
          <p:cNvCxnSpPr/>
          <p:nvPr/>
        </p:nvCxnSpPr>
        <p:spPr>
          <a:xfrm>
            <a:off x="6019800" y="2387600"/>
            <a:ext cx="228600" cy="0"/>
          </a:xfrm>
          <a:prstGeom prst="straightConnector1">
            <a:avLst/>
          </a:prstGeom>
          <a:ln>
            <a:solidFill>
              <a:srgbClr val="80726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E98284-AEBF-4B3C-89A4-16BFC4C967A6}"/>
              </a:ext>
            </a:extLst>
          </p:cNvPr>
          <p:cNvSpPr/>
          <p:nvPr/>
        </p:nvSpPr>
        <p:spPr>
          <a:xfrm>
            <a:off x="6248400" y="1905000"/>
            <a:ext cx="1193800" cy="965200"/>
          </a:xfrm>
          <a:prstGeom prst="roundRect">
            <a:avLst/>
          </a:prstGeom>
          <a:solidFill>
            <a:srgbClr val="FFFFFF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20826-EFE6-4BA3-9FF6-E1DCC9A42A94}"/>
              </a:ext>
            </a:extLst>
          </p:cNvPr>
          <p:cNvSpPr txBox="1"/>
          <p:nvPr/>
        </p:nvSpPr>
        <p:spPr>
          <a:xfrm>
            <a:off x="6350000" y="2184400"/>
            <a:ext cx="9906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 b="1">
                <a:solidFill>
                  <a:srgbClr val="061024"/>
                </a:solidFill>
                <a:latin typeface="Aptos"/>
              </a:rPr>
              <a:t>Evidence collection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9C9EFB-ABBA-40DF-B9BF-CDE9123EE5CC}"/>
              </a:ext>
            </a:extLst>
          </p:cNvPr>
          <p:cNvCxnSpPr/>
          <p:nvPr/>
        </p:nvCxnSpPr>
        <p:spPr>
          <a:xfrm>
            <a:off x="7442200" y="2387600"/>
            <a:ext cx="228600" cy="0"/>
          </a:xfrm>
          <a:prstGeom prst="straightConnector1">
            <a:avLst/>
          </a:prstGeom>
          <a:ln>
            <a:solidFill>
              <a:srgbClr val="80726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24FE42-1C29-4745-A84B-1003EEC3CD7A}"/>
              </a:ext>
            </a:extLst>
          </p:cNvPr>
          <p:cNvSpPr/>
          <p:nvPr/>
        </p:nvSpPr>
        <p:spPr>
          <a:xfrm>
            <a:off x="7670800" y="1905000"/>
            <a:ext cx="1193800" cy="965200"/>
          </a:xfrm>
          <a:prstGeom prst="roundRect">
            <a:avLst/>
          </a:prstGeom>
          <a:solidFill>
            <a:srgbClr val="FFFFFF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8F7F99-1E33-4FEF-ABBD-E1D4DC25A755}"/>
              </a:ext>
            </a:extLst>
          </p:cNvPr>
          <p:cNvSpPr txBox="1"/>
          <p:nvPr/>
        </p:nvSpPr>
        <p:spPr>
          <a:xfrm>
            <a:off x="7772400" y="2184400"/>
            <a:ext cx="9906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 b="1">
                <a:solidFill>
                  <a:srgbClr val="061024"/>
                </a:solidFill>
                <a:latin typeface="Aptos"/>
              </a:rPr>
              <a:t>Reasoning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93584F0-5698-40AA-AF80-89100BB64D56}"/>
              </a:ext>
            </a:extLst>
          </p:cNvPr>
          <p:cNvCxnSpPr/>
          <p:nvPr/>
        </p:nvCxnSpPr>
        <p:spPr>
          <a:xfrm>
            <a:off x="8864600" y="2387600"/>
            <a:ext cx="228600" cy="0"/>
          </a:xfrm>
          <a:prstGeom prst="straightConnector1">
            <a:avLst/>
          </a:prstGeom>
          <a:ln>
            <a:solidFill>
              <a:srgbClr val="80726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410F9A9-F2EA-4492-9912-F733DF0B58E1}"/>
              </a:ext>
            </a:extLst>
          </p:cNvPr>
          <p:cNvSpPr/>
          <p:nvPr/>
        </p:nvSpPr>
        <p:spPr>
          <a:xfrm>
            <a:off x="9093200" y="1905000"/>
            <a:ext cx="1193800" cy="965200"/>
          </a:xfrm>
          <a:prstGeom prst="roundRect">
            <a:avLst/>
          </a:prstGeom>
          <a:solidFill>
            <a:srgbClr val="FFFFFF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23C8A0-0AFC-4982-8169-E273E1A89E89}"/>
              </a:ext>
            </a:extLst>
          </p:cNvPr>
          <p:cNvSpPr txBox="1"/>
          <p:nvPr/>
        </p:nvSpPr>
        <p:spPr>
          <a:xfrm>
            <a:off x="9194800" y="2184400"/>
            <a:ext cx="9906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 b="1">
                <a:solidFill>
                  <a:srgbClr val="061024"/>
                </a:solidFill>
                <a:latin typeface="Aptos"/>
              </a:rPr>
              <a:t>Reflection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49C34B-FDEA-4727-8896-94BA759C2A7B}"/>
              </a:ext>
            </a:extLst>
          </p:cNvPr>
          <p:cNvCxnSpPr/>
          <p:nvPr/>
        </p:nvCxnSpPr>
        <p:spPr>
          <a:xfrm>
            <a:off x="10287000" y="2387600"/>
            <a:ext cx="228600" cy="0"/>
          </a:xfrm>
          <a:prstGeom prst="straightConnector1">
            <a:avLst/>
          </a:prstGeom>
          <a:ln>
            <a:solidFill>
              <a:srgbClr val="80726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D448271-34CA-4DEE-8A2F-2E2A28041374}"/>
              </a:ext>
            </a:extLst>
          </p:cNvPr>
          <p:cNvSpPr/>
          <p:nvPr/>
        </p:nvSpPr>
        <p:spPr>
          <a:xfrm>
            <a:off x="10515600" y="1905000"/>
            <a:ext cx="1193800" cy="965200"/>
          </a:xfrm>
          <a:prstGeom prst="roundRect">
            <a:avLst/>
          </a:prstGeom>
          <a:solidFill>
            <a:srgbClr val="FFFFFF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FBE5AE-CEFA-4A6A-8EA8-2C83ACB737C5}"/>
              </a:ext>
            </a:extLst>
          </p:cNvPr>
          <p:cNvSpPr txBox="1"/>
          <p:nvPr/>
        </p:nvSpPr>
        <p:spPr>
          <a:xfrm>
            <a:off x="10617200" y="2184400"/>
            <a:ext cx="9906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 b="1">
                <a:solidFill>
                  <a:srgbClr val="061024"/>
                </a:solidFill>
                <a:latin typeface="Aptos"/>
              </a:rPr>
              <a:t>Recommendation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3D1D2D-F722-4D29-94FC-CA826B17C75C}"/>
              </a:ext>
            </a:extLst>
          </p:cNvPr>
          <p:cNvSpPr txBox="1"/>
          <p:nvPr/>
        </p:nvSpPr>
        <p:spPr>
          <a:xfrm>
            <a:off x="1143000" y="3873500"/>
            <a:ext cx="9652000" cy="1082348"/>
          </a:xfrm>
          <a:prstGeom prst="rect">
            <a:avLst/>
          </a:prstGeom>
          <a:noFill/>
        </p:spPr>
        <p:txBody>
          <a:bodyPr vert="horz" lIns="76200" rIns="7620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37291F"/>
                </a:solidFill>
                <a:latin typeface="Aptos"/>
              </a:rPr>
              <a:t>Supervisor agent plans which specialist agents are required.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37291F"/>
                </a:solidFill>
                <a:latin typeface="Aptos"/>
              </a:rPr>
              <a:t>Policy, weather, historical claim, reasoning, and compliance agents each contribute evidence.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37291F"/>
                </a:solidFill>
                <a:latin typeface="Aptos"/>
              </a:rPr>
              <a:t>Reflection cycles re-query when context is missing or contradictory.</a:t>
            </a:r>
            <a:endParaRPr lang="en-IN" sz="1700">
              <a:solidFill>
                <a:srgbClr val="37291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87027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4CCB02-5E83-4C3A-AA0D-1DF6920F9EE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B3DF5-D49F-40A6-B88E-5528A30CE062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Explainability &amp; Governance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A3BCA-0B12-465C-826A-C37AA34D0E16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Designed for regulated insurance decisions where traceability matters.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4DB67-AC70-4336-94E4-E7288DAC1922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9B5D24-AF42-42FE-9D0F-24703BF62F95}"/>
              </a:ext>
            </a:extLst>
          </p:cNvPr>
          <p:cNvSpPr/>
          <p:nvPr/>
        </p:nvSpPr>
        <p:spPr>
          <a:xfrm>
            <a:off x="698500" y="15748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3526BE-E18B-416E-B850-12AE5C666939}"/>
              </a:ext>
            </a:extLst>
          </p:cNvPr>
          <p:cNvSpPr/>
          <p:nvPr/>
        </p:nvSpPr>
        <p:spPr>
          <a:xfrm>
            <a:off x="698500" y="1574800"/>
            <a:ext cx="63500" cy="3175000"/>
          </a:xfrm>
          <a:prstGeom prst="rect">
            <a:avLst/>
          </a:prstGeom>
          <a:solidFill>
            <a:srgbClr val="227D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7BEA30-B3CA-4B96-9083-9807CC8BF5E5}"/>
              </a:ext>
            </a:extLst>
          </p:cNvPr>
          <p:cNvSpPr txBox="1"/>
          <p:nvPr/>
        </p:nvSpPr>
        <p:spPr>
          <a:xfrm>
            <a:off x="901700" y="17272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Recommendation Package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154578-CEE3-4A98-8A09-6B08F59921B8}"/>
              </a:ext>
            </a:extLst>
          </p:cNvPr>
          <p:cNvSpPr txBox="1"/>
          <p:nvPr/>
        </p:nvSpPr>
        <p:spPr>
          <a:xfrm>
            <a:off x="901700" y="2082800"/>
            <a:ext cx="2819400" cy="9771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Decision: Eligible, Not Eligible, or Needs Review
Confidence score
Supporting evidence
Source-linked citations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DDD277-DAE1-4429-9AF1-3169CF808048}"/>
              </a:ext>
            </a:extLst>
          </p:cNvPr>
          <p:cNvSpPr/>
          <p:nvPr/>
        </p:nvSpPr>
        <p:spPr>
          <a:xfrm>
            <a:off x="4508500" y="15748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9BDB86-B3C4-4236-990D-894B543D0913}"/>
              </a:ext>
            </a:extLst>
          </p:cNvPr>
          <p:cNvSpPr/>
          <p:nvPr/>
        </p:nvSpPr>
        <p:spPr>
          <a:xfrm>
            <a:off x="4508500" y="1574800"/>
            <a:ext cx="63500" cy="3175000"/>
          </a:xfrm>
          <a:prstGeom prst="rect">
            <a:avLst/>
          </a:prstGeom>
          <a:solidFill>
            <a:srgbClr val="E87A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F18856-9186-413A-BC97-295CBFCC1791}"/>
              </a:ext>
            </a:extLst>
          </p:cNvPr>
          <p:cNvSpPr txBox="1"/>
          <p:nvPr/>
        </p:nvSpPr>
        <p:spPr>
          <a:xfrm>
            <a:off x="4711700" y="17272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Human Oversight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56C236-5922-4B7B-83A1-F9A1721AEA97}"/>
              </a:ext>
            </a:extLst>
          </p:cNvPr>
          <p:cNvSpPr txBox="1"/>
          <p:nvPr/>
        </p:nvSpPr>
        <p:spPr>
          <a:xfrm>
            <a:off x="4711700" y="2082800"/>
            <a:ext cx="2819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Escalate when confidence is below 75%, evidence conflicts, or compliance violations are detected.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F3D590-2157-4F91-9A54-AA4B7CFFEA66}"/>
              </a:ext>
            </a:extLst>
          </p:cNvPr>
          <p:cNvSpPr/>
          <p:nvPr/>
        </p:nvSpPr>
        <p:spPr>
          <a:xfrm>
            <a:off x="8318500" y="15748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3319AC-9D3C-41E7-8662-EC189A7A198B}"/>
              </a:ext>
            </a:extLst>
          </p:cNvPr>
          <p:cNvSpPr/>
          <p:nvPr/>
        </p:nvSpPr>
        <p:spPr>
          <a:xfrm>
            <a:off x="8318500" y="1574800"/>
            <a:ext cx="63500" cy="31750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00600C-4A54-4C26-8F78-C32A308A618E}"/>
              </a:ext>
            </a:extLst>
          </p:cNvPr>
          <p:cNvSpPr txBox="1"/>
          <p:nvPr/>
        </p:nvSpPr>
        <p:spPr>
          <a:xfrm>
            <a:off x="8521700" y="17272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Audit Readiness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8A24A3-C32B-4EC1-9D73-2EA86642B670}"/>
              </a:ext>
            </a:extLst>
          </p:cNvPr>
          <p:cNvSpPr txBox="1"/>
          <p:nvPr/>
        </p:nvSpPr>
        <p:spPr>
          <a:xfrm>
            <a:off x="8521700" y="2082800"/>
            <a:ext cx="2819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Log user query, agent actions, retrieved documents, final decisions, and review outcomes.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23738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18BED2-2E17-4194-8DAB-221E4BE1CBE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B6BD9-CE26-46A7-A7FA-5E892403303A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Example Claim Scenario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03E96-8F8F-45C0-BA6E-DCDA558DE506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A simple competition demo path for drought compensation eligibility.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3E246-0D51-4A5B-9AE7-AED7B9DBDCE7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1FC494-90A4-466D-A45E-90B45014B587}"/>
              </a:ext>
            </a:extLst>
          </p:cNvPr>
          <p:cNvSpPr/>
          <p:nvPr/>
        </p:nvSpPr>
        <p:spPr>
          <a:xfrm>
            <a:off x="787400" y="1460500"/>
            <a:ext cx="3175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6DE81B-FDE3-4DD7-B152-A63D2B014EDF}"/>
              </a:ext>
            </a:extLst>
          </p:cNvPr>
          <p:cNvSpPr/>
          <p:nvPr/>
        </p:nvSpPr>
        <p:spPr>
          <a:xfrm>
            <a:off x="787400" y="1460500"/>
            <a:ext cx="63500" cy="33020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B04E2D-B5F9-4292-8D76-63B46A975614}"/>
              </a:ext>
            </a:extLst>
          </p:cNvPr>
          <p:cNvSpPr txBox="1"/>
          <p:nvPr/>
        </p:nvSpPr>
        <p:spPr>
          <a:xfrm>
            <a:off x="990600" y="16129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D5FE3-D604-4C90-9B9A-DDE78C11DE0B}"/>
              </a:ext>
            </a:extLst>
          </p:cNvPr>
          <p:cNvSpPr txBox="1"/>
          <p:nvPr/>
        </p:nvSpPr>
        <p:spPr>
          <a:xfrm>
            <a:off x="990600" y="1968500"/>
            <a:ext cx="2819400" cy="9771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Farmer: Ram
District: Anantapur
Crop: Groundnut
Loss reason: Drought
Policy: PMFBY-2025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7A1059-D45A-42E9-8534-D62387052C99}"/>
              </a:ext>
            </a:extLst>
          </p:cNvPr>
          <p:cNvSpPr/>
          <p:nvPr/>
        </p:nvSpPr>
        <p:spPr>
          <a:xfrm>
            <a:off x="4495800" y="1460500"/>
            <a:ext cx="3175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6C7BD6-8B7C-45B3-88DF-FAE0F65400BD}"/>
              </a:ext>
            </a:extLst>
          </p:cNvPr>
          <p:cNvSpPr/>
          <p:nvPr/>
        </p:nvSpPr>
        <p:spPr>
          <a:xfrm>
            <a:off x="4495800" y="1460500"/>
            <a:ext cx="63500" cy="3302000"/>
          </a:xfrm>
          <a:prstGeom prst="rect">
            <a:avLst/>
          </a:prstGeom>
          <a:solidFill>
            <a:srgbClr val="C03B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3E615F-1374-4905-8F1C-676A484C20A2}"/>
              </a:ext>
            </a:extLst>
          </p:cNvPr>
          <p:cNvSpPr txBox="1"/>
          <p:nvPr/>
        </p:nvSpPr>
        <p:spPr>
          <a:xfrm>
            <a:off x="4699000" y="16129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System Checks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A4616-A134-4FAD-B7B5-F353677F6A3E}"/>
              </a:ext>
            </a:extLst>
          </p:cNvPr>
          <p:cNvSpPr txBox="1"/>
          <p:nvPr/>
        </p:nvSpPr>
        <p:spPr>
          <a:xfrm>
            <a:off x="4699000" y="1968500"/>
            <a:ext cx="2819400" cy="9771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Retrieve policy clauses
Search drought conditions
Compare weather evidence
Find similar claims
Run compliance validation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CA976B-7327-472A-93C6-76A3F6C96952}"/>
              </a:ext>
            </a:extLst>
          </p:cNvPr>
          <p:cNvSpPr/>
          <p:nvPr/>
        </p:nvSpPr>
        <p:spPr>
          <a:xfrm>
            <a:off x="8204200" y="1460500"/>
            <a:ext cx="3175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4FEF7C-5D1D-42A9-8867-F1FCAAAF1A62}"/>
              </a:ext>
            </a:extLst>
          </p:cNvPr>
          <p:cNvSpPr/>
          <p:nvPr/>
        </p:nvSpPr>
        <p:spPr>
          <a:xfrm>
            <a:off x="8204200" y="1460500"/>
            <a:ext cx="63500" cy="3302000"/>
          </a:xfrm>
          <a:prstGeom prst="rect">
            <a:avLst/>
          </a:prstGeom>
          <a:solidFill>
            <a:srgbClr val="227D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54FFD-43EA-4C0A-8964-5FB5261FA653}"/>
              </a:ext>
            </a:extLst>
          </p:cNvPr>
          <p:cNvSpPr txBox="1"/>
          <p:nvPr/>
        </p:nvSpPr>
        <p:spPr>
          <a:xfrm>
            <a:off x="8407400" y="16129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91962F-6225-4D80-AE1F-9C3EFDB413D8}"/>
              </a:ext>
            </a:extLst>
          </p:cNvPr>
          <p:cNvSpPr txBox="1"/>
          <p:nvPr/>
        </p:nvSpPr>
        <p:spPr>
          <a:xfrm>
            <a:off x="8407400" y="1968500"/>
            <a:ext cx="2819400" cy="9771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Recommendation: Eligible / Needs Review
Confidence: 0-100%
Citations: policy clauses and evidence reports
Audit trail: stored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06017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B4E695-6074-412A-BE56-8A0B1D0DD39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0761E-2C13-4123-9897-688D3E03C17C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Success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23A5E-AD8B-4523-BA00-4757333EF977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Competition-ready targets from the PRD.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3AD7F-2EF2-4549-A3F4-2A2768A057B0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937E44-1FAD-425B-B6A2-7C41029A21BA}"/>
              </a:ext>
            </a:extLst>
          </p:cNvPr>
          <p:cNvSpPr/>
          <p:nvPr/>
        </p:nvSpPr>
        <p:spPr>
          <a:xfrm>
            <a:off x="863600" y="1549400"/>
            <a:ext cx="2032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2DB78-34BA-4414-8B3F-527469991F3C}"/>
              </a:ext>
            </a:extLst>
          </p:cNvPr>
          <p:cNvSpPr txBox="1"/>
          <p:nvPr/>
        </p:nvSpPr>
        <p:spPr>
          <a:xfrm>
            <a:off x="1016000" y="1676400"/>
            <a:ext cx="1727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227D3E"/>
                </a:solidFill>
                <a:latin typeface="Aptos Display"/>
              </a:rPr>
              <a:t>&lt; 2 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005C9-5216-494F-B6F9-7734D1F0E15A}"/>
              </a:ext>
            </a:extLst>
          </p:cNvPr>
          <p:cNvSpPr txBox="1"/>
          <p:nvPr/>
        </p:nvSpPr>
        <p:spPr>
          <a:xfrm>
            <a:off x="1016000" y="2108200"/>
            <a:ext cx="1727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Claim processing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585ABB-8044-43AA-B4B3-8B7AF26F2A6D}"/>
              </a:ext>
            </a:extLst>
          </p:cNvPr>
          <p:cNvSpPr/>
          <p:nvPr/>
        </p:nvSpPr>
        <p:spPr>
          <a:xfrm>
            <a:off x="3276600" y="1549400"/>
            <a:ext cx="2032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0AEF60-793A-4AD0-818A-CC27EB54D852}"/>
              </a:ext>
            </a:extLst>
          </p:cNvPr>
          <p:cNvSpPr txBox="1"/>
          <p:nvPr/>
        </p:nvSpPr>
        <p:spPr>
          <a:xfrm>
            <a:off x="3429000" y="1676400"/>
            <a:ext cx="1727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1860C0"/>
                </a:solidFill>
                <a:latin typeface="Aptos Display"/>
              </a:rPr>
              <a:t>&gt; 90%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C6152-FCFC-4BD2-9C1B-FA1E96F9487D}"/>
              </a:ext>
            </a:extLst>
          </p:cNvPr>
          <p:cNvSpPr txBox="1"/>
          <p:nvPr/>
        </p:nvSpPr>
        <p:spPr>
          <a:xfrm>
            <a:off x="3429000" y="2108200"/>
            <a:ext cx="1727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Retrieval accuracy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722182-2C26-49F3-B393-825F6CC1A59C}"/>
              </a:ext>
            </a:extLst>
          </p:cNvPr>
          <p:cNvSpPr/>
          <p:nvPr/>
        </p:nvSpPr>
        <p:spPr>
          <a:xfrm>
            <a:off x="5689600" y="1549400"/>
            <a:ext cx="2032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11440-2028-4B8E-B367-26C2073BE2AF}"/>
              </a:ext>
            </a:extLst>
          </p:cNvPr>
          <p:cNvSpPr txBox="1"/>
          <p:nvPr/>
        </p:nvSpPr>
        <p:spPr>
          <a:xfrm>
            <a:off x="5842000" y="1676400"/>
            <a:ext cx="1727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227D3E"/>
                </a:solidFill>
                <a:latin typeface="Aptos Display"/>
              </a:rPr>
              <a:t>100%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F2AB7B-9FF3-451E-86C8-8727992B9150}"/>
              </a:ext>
            </a:extLst>
          </p:cNvPr>
          <p:cNvSpPr txBox="1"/>
          <p:nvPr/>
        </p:nvSpPr>
        <p:spPr>
          <a:xfrm>
            <a:off x="5842000" y="2108200"/>
            <a:ext cx="1727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Citation coverage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7832BB9-5467-450B-99ED-F6AA9B5F1EC1}"/>
              </a:ext>
            </a:extLst>
          </p:cNvPr>
          <p:cNvSpPr/>
          <p:nvPr/>
        </p:nvSpPr>
        <p:spPr>
          <a:xfrm>
            <a:off x="8102600" y="1549400"/>
            <a:ext cx="2032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80DF53-EB28-4F57-8448-8CD548756347}"/>
              </a:ext>
            </a:extLst>
          </p:cNvPr>
          <p:cNvSpPr txBox="1"/>
          <p:nvPr/>
        </p:nvSpPr>
        <p:spPr>
          <a:xfrm>
            <a:off x="8255000" y="1676400"/>
            <a:ext cx="1727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E87A1F"/>
                </a:solidFill>
                <a:latin typeface="Aptos Display"/>
              </a:rPr>
              <a:t>&lt; 5%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D17BEA-6821-4406-A039-4246157F5536}"/>
              </a:ext>
            </a:extLst>
          </p:cNvPr>
          <p:cNvSpPr txBox="1"/>
          <p:nvPr/>
        </p:nvSpPr>
        <p:spPr>
          <a:xfrm>
            <a:off x="8255000" y="2108200"/>
            <a:ext cx="1727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Hallucination rate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DF2A71-0B3D-44FA-B291-AB7C3FDFE794}"/>
              </a:ext>
            </a:extLst>
          </p:cNvPr>
          <p:cNvSpPr/>
          <p:nvPr/>
        </p:nvSpPr>
        <p:spPr>
          <a:xfrm>
            <a:off x="863600" y="3073400"/>
            <a:ext cx="2032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FE9722-A69E-4703-97A7-91ADE912CA06}"/>
              </a:ext>
            </a:extLst>
          </p:cNvPr>
          <p:cNvSpPr txBox="1"/>
          <p:nvPr/>
        </p:nvSpPr>
        <p:spPr>
          <a:xfrm>
            <a:off x="1016000" y="3200400"/>
            <a:ext cx="1727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C03B7A"/>
                </a:solidFill>
                <a:latin typeface="Aptos Display"/>
              </a:rPr>
              <a:t>&gt; 0.85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E1557D-6592-4A14-88EF-05B841945B7E}"/>
              </a:ext>
            </a:extLst>
          </p:cNvPr>
          <p:cNvSpPr txBox="1"/>
          <p:nvPr/>
        </p:nvSpPr>
        <p:spPr>
          <a:xfrm>
            <a:off x="1016000" y="3632200"/>
            <a:ext cx="1727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RAG faithfulness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21DFEC8-F58C-4C67-9BDF-F732EF8E16C5}"/>
              </a:ext>
            </a:extLst>
          </p:cNvPr>
          <p:cNvSpPr/>
          <p:nvPr/>
        </p:nvSpPr>
        <p:spPr>
          <a:xfrm>
            <a:off x="3276600" y="3073400"/>
            <a:ext cx="2032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D8F3A-A847-4FA6-8B26-846C10C11BDC}"/>
              </a:ext>
            </a:extLst>
          </p:cNvPr>
          <p:cNvSpPr txBox="1"/>
          <p:nvPr/>
        </p:nvSpPr>
        <p:spPr>
          <a:xfrm>
            <a:off x="3429000" y="3200400"/>
            <a:ext cx="1727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1860C0"/>
                </a:solidFill>
                <a:latin typeface="Aptos Display"/>
              </a:rPr>
              <a:t>&lt; 15 sec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CF41B2-BE00-49A0-BDFA-C27E8C96D3FA}"/>
              </a:ext>
            </a:extLst>
          </p:cNvPr>
          <p:cNvSpPr txBox="1"/>
          <p:nvPr/>
        </p:nvSpPr>
        <p:spPr>
          <a:xfrm>
            <a:off x="3429000" y="3632200"/>
            <a:ext cx="1727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API response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BEFF86D-1A48-45E9-98C3-4A30CD5107AA}"/>
              </a:ext>
            </a:extLst>
          </p:cNvPr>
          <p:cNvSpPr/>
          <p:nvPr/>
        </p:nvSpPr>
        <p:spPr>
          <a:xfrm>
            <a:off x="5689600" y="3073400"/>
            <a:ext cx="2032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C012A0-24AC-4288-9627-4434323FF0EE}"/>
              </a:ext>
            </a:extLst>
          </p:cNvPr>
          <p:cNvSpPr txBox="1"/>
          <p:nvPr/>
        </p:nvSpPr>
        <p:spPr>
          <a:xfrm>
            <a:off x="5842000" y="3200400"/>
            <a:ext cx="1727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227D3E"/>
                </a:solidFill>
                <a:latin typeface="Aptos Display"/>
              </a:rPr>
              <a:t>&gt; 99%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7838F2-B2D0-45D5-826D-E4FA85C6104B}"/>
              </a:ext>
            </a:extLst>
          </p:cNvPr>
          <p:cNvSpPr txBox="1"/>
          <p:nvPr/>
        </p:nvSpPr>
        <p:spPr>
          <a:xfrm>
            <a:off x="5842000" y="3632200"/>
            <a:ext cx="1727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Availability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31098A-1661-4040-9517-4FD78C3C696C}"/>
              </a:ext>
            </a:extLst>
          </p:cNvPr>
          <p:cNvSpPr/>
          <p:nvPr/>
        </p:nvSpPr>
        <p:spPr>
          <a:xfrm>
            <a:off x="8102600" y="3073400"/>
            <a:ext cx="2032000" cy="9906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F7FEAB-994C-437D-A138-BF2A27DF1354}"/>
              </a:ext>
            </a:extLst>
          </p:cNvPr>
          <p:cNvSpPr txBox="1"/>
          <p:nvPr/>
        </p:nvSpPr>
        <p:spPr>
          <a:xfrm>
            <a:off x="8255000" y="3200400"/>
            <a:ext cx="1727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E87A1F"/>
                </a:solidFill>
                <a:latin typeface="Aptos Display"/>
              </a:rPr>
              <a:t>&lt; 20%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4BF545-3240-40AB-B114-E1C663413DF3}"/>
              </a:ext>
            </a:extLst>
          </p:cNvPr>
          <p:cNvSpPr txBox="1"/>
          <p:nvPr/>
        </p:nvSpPr>
        <p:spPr>
          <a:xfrm>
            <a:off x="8255000" y="3632200"/>
            <a:ext cx="1727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>
                <a:solidFill>
                  <a:srgbClr val="80726B"/>
                </a:solidFill>
                <a:latin typeface="Aptos"/>
              </a:rPr>
              <a:t>Human review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5FDD35-67B3-4917-A04E-785BE1579E76}"/>
              </a:ext>
            </a:extLst>
          </p:cNvPr>
          <p:cNvSpPr txBox="1"/>
          <p:nvPr/>
        </p:nvSpPr>
        <p:spPr>
          <a:xfrm>
            <a:off x="1397000" y="5080000"/>
            <a:ext cx="9398000" cy="323165"/>
          </a:xfrm>
          <a:prstGeom prst="rect">
            <a:avLst/>
          </a:prstGeom>
          <a:noFill/>
        </p:spPr>
        <p:txBody>
          <a:bodyPr vert="horz" lIns="76200" rIns="7620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37291F"/>
                </a:solidFill>
                <a:latin typeface="Aptos"/>
              </a:rPr>
              <a:t>Evaluation layer proposed: RAGAS and DeepEval, with LangSmith/Phoenix traces for agent quality and debugging.</a:t>
            </a:r>
            <a:endParaRPr lang="en-IN" sz="1500">
              <a:solidFill>
                <a:srgbClr val="37291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9936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5478FA-9960-44EB-9E75-3E162D50744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AFA16-4822-48AF-9815-5EDE3D7BE309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Risks &amp; Mitigations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9D65A-68CE-4478-8531-13C6F0F60A6D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The platform is designed around the highest-risk failure modes in AI-assisted claims.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BDC21-2F68-4983-AEAE-0F1B936D94D1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A3CAB5-EBC6-4A33-AEFE-BA57E7D3F724}"/>
              </a:ext>
            </a:extLst>
          </p:cNvPr>
          <p:cNvSpPr/>
          <p:nvPr/>
        </p:nvSpPr>
        <p:spPr>
          <a:xfrm>
            <a:off x="698500" y="1498600"/>
            <a:ext cx="3175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2A2EDD-6512-42B1-9B6B-B7A9008C9BC3}"/>
              </a:ext>
            </a:extLst>
          </p:cNvPr>
          <p:cNvSpPr/>
          <p:nvPr/>
        </p:nvSpPr>
        <p:spPr>
          <a:xfrm>
            <a:off x="698500" y="1498600"/>
            <a:ext cx="63500" cy="3048000"/>
          </a:xfrm>
          <a:prstGeom prst="rect">
            <a:avLst/>
          </a:prstGeom>
          <a:solidFill>
            <a:srgbClr val="E87A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8D235-2498-41F0-A653-2590E46A0DF2}"/>
              </a:ext>
            </a:extLst>
          </p:cNvPr>
          <p:cNvSpPr txBox="1"/>
          <p:nvPr/>
        </p:nvSpPr>
        <p:spPr>
          <a:xfrm>
            <a:off x="901700" y="16510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Hallucination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C29557-DDE1-488B-A279-50F54E661596}"/>
              </a:ext>
            </a:extLst>
          </p:cNvPr>
          <p:cNvSpPr txBox="1"/>
          <p:nvPr/>
        </p:nvSpPr>
        <p:spPr>
          <a:xfrm>
            <a:off x="901700" y="2006600"/>
            <a:ext cx="2819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Mitigation: retrieval-grounded responses, citations, guardrails, and compliance agent review.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B49CF2-ADD9-4365-B0C2-AF3DD6BCAEA3}"/>
              </a:ext>
            </a:extLst>
          </p:cNvPr>
          <p:cNvSpPr/>
          <p:nvPr/>
        </p:nvSpPr>
        <p:spPr>
          <a:xfrm>
            <a:off x="4508500" y="1498600"/>
            <a:ext cx="3175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D3C7CE-5D3C-4C9E-BA9D-9DA068779540}"/>
              </a:ext>
            </a:extLst>
          </p:cNvPr>
          <p:cNvSpPr/>
          <p:nvPr/>
        </p:nvSpPr>
        <p:spPr>
          <a:xfrm>
            <a:off x="4508500" y="1498600"/>
            <a:ext cx="63500" cy="30480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4C66F-3FAD-4398-952A-E1A7CF08FA41}"/>
              </a:ext>
            </a:extLst>
          </p:cNvPr>
          <p:cNvSpPr txBox="1"/>
          <p:nvPr/>
        </p:nvSpPr>
        <p:spPr>
          <a:xfrm>
            <a:off x="4711700" y="16510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Poor Retrieval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F264DB-C514-4180-AA76-5722A63F8196}"/>
              </a:ext>
            </a:extLst>
          </p:cNvPr>
          <p:cNvSpPr txBox="1"/>
          <p:nvPr/>
        </p:nvSpPr>
        <p:spPr>
          <a:xfrm>
            <a:off x="4711700" y="2006600"/>
            <a:ext cx="28194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Mitigation: hybrid dense + sparse search, re-ranking, context compression, and evaluation metrics.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B5E0B8-CCC3-4A1A-B0CA-1D683B920E7E}"/>
              </a:ext>
            </a:extLst>
          </p:cNvPr>
          <p:cNvSpPr/>
          <p:nvPr/>
        </p:nvSpPr>
        <p:spPr>
          <a:xfrm>
            <a:off x="8318500" y="1498600"/>
            <a:ext cx="3175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FE5C0-9224-4DCD-B3AE-A691A3CBA9D8}"/>
              </a:ext>
            </a:extLst>
          </p:cNvPr>
          <p:cNvSpPr/>
          <p:nvPr/>
        </p:nvSpPr>
        <p:spPr>
          <a:xfrm>
            <a:off x="8318500" y="1498600"/>
            <a:ext cx="63500" cy="3048000"/>
          </a:xfrm>
          <a:prstGeom prst="rect">
            <a:avLst/>
          </a:prstGeom>
          <a:solidFill>
            <a:srgbClr val="227D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96E3BB-BA03-4C1D-BE0A-E1A42262A26F}"/>
              </a:ext>
            </a:extLst>
          </p:cNvPr>
          <p:cNvSpPr txBox="1"/>
          <p:nvPr/>
        </p:nvSpPr>
        <p:spPr>
          <a:xfrm>
            <a:off x="8521700" y="16510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Low Confidence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A90F87-157A-4194-ACD5-15394DBD94E8}"/>
              </a:ext>
            </a:extLst>
          </p:cNvPr>
          <p:cNvSpPr txBox="1"/>
          <p:nvPr/>
        </p:nvSpPr>
        <p:spPr>
          <a:xfrm>
            <a:off x="8521700" y="2006600"/>
            <a:ext cx="28194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Mitigation: human-in-the-loop review, audit trail, and reflection/self-correction cycles.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56864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3A1EA6-4748-4A54-A664-44D8B80168B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F4557-BA8D-45B8-8A3C-B7ADE818D4AF}"/>
              </a:ext>
            </a:extLst>
          </p:cNvPr>
          <p:cNvSpPr txBox="1"/>
          <p:nvPr/>
        </p:nvSpPr>
        <p:spPr>
          <a:xfrm>
            <a:off x="533400" y="330200"/>
            <a:ext cx="812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900" b="1">
                <a:solidFill>
                  <a:srgbClr val="061024"/>
                </a:solidFill>
                <a:latin typeface="Aptos Display"/>
              </a:rPr>
              <a:t>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2E382-1398-42F4-AFC9-8EC3320875B3}"/>
              </a:ext>
            </a:extLst>
          </p:cNvPr>
          <p:cNvSpPr txBox="1"/>
          <p:nvPr/>
        </p:nvSpPr>
        <p:spPr>
          <a:xfrm>
            <a:off x="558800" y="863600"/>
            <a:ext cx="9144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80726B"/>
                </a:solidFill>
                <a:latin typeface="Aptos"/>
              </a:rPr>
              <a:t>Path from current RAG core to a full enterprise Agentic AI product.</a:t>
            </a:r>
            <a:endParaRPr lang="en-IN" sz="1250">
              <a:solidFill>
                <a:srgbClr val="80726B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FDB3B-C4FD-405B-9435-B7D7790F134E}"/>
              </a:ext>
            </a:extLst>
          </p:cNvPr>
          <p:cNvSpPr txBox="1"/>
          <p:nvPr/>
        </p:nvSpPr>
        <p:spPr>
          <a:xfrm>
            <a:off x="9906000" y="6413500"/>
            <a:ext cx="177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0726B"/>
                </a:solidFill>
                <a:latin typeface="Aptos"/>
              </a:rPr>
              <a:t>AgriClaimGuard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C08920-002F-4B8B-9227-F143FED9263A}"/>
              </a:ext>
            </a:extLst>
          </p:cNvPr>
          <p:cNvSpPr/>
          <p:nvPr/>
        </p:nvSpPr>
        <p:spPr>
          <a:xfrm>
            <a:off x="685800" y="1498600"/>
            <a:ext cx="3302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1E1450-4D4D-460A-802D-6B77CF6ADBAC}"/>
              </a:ext>
            </a:extLst>
          </p:cNvPr>
          <p:cNvSpPr/>
          <p:nvPr/>
        </p:nvSpPr>
        <p:spPr>
          <a:xfrm>
            <a:off x="685800" y="1498600"/>
            <a:ext cx="63500" cy="3048000"/>
          </a:xfrm>
          <a:prstGeom prst="rect">
            <a:avLst/>
          </a:prstGeom>
          <a:solidFill>
            <a:srgbClr val="186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DBC88C-C2F5-49FF-8684-35D86119AD21}"/>
              </a:ext>
            </a:extLst>
          </p:cNvPr>
          <p:cNvSpPr txBox="1"/>
          <p:nvPr/>
        </p:nvSpPr>
        <p:spPr>
          <a:xfrm>
            <a:off x="889000" y="16510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Phase 1: MVP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293562-DAE5-4D2F-9CFE-E2AADA3844D8}"/>
              </a:ext>
            </a:extLst>
          </p:cNvPr>
          <p:cNvSpPr txBox="1"/>
          <p:nvPr/>
        </p:nvSpPr>
        <p:spPr>
          <a:xfrm>
            <a:off x="889000" y="2006600"/>
            <a:ext cx="2946400" cy="9771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Ingestion pipeline
Hybrid retrieval
Claim Q&amp;A
Citation-backed evidence
Basic demo workflow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A50A25-DF25-48F5-B744-69DA29DADB74}"/>
              </a:ext>
            </a:extLst>
          </p:cNvPr>
          <p:cNvSpPr/>
          <p:nvPr/>
        </p:nvSpPr>
        <p:spPr>
          <a:xfrm>
            <a:off x="4445000" y="1498600"/>
            <a:ext cx="3302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1B8113-F6C3-43AC-AE1B-11A77B3D4AB7}"/>
              </a:ext>
            </a:extLst>
          </p:cNvPr>
          <p:cNvSpPr/>
          <p:nvPr/>
        </p:nvSpPr>
        <p:spPr>
          <a:xfrm>
            <a:off x="4445000" y="1498600"/>
            <a:ext cx="63500" cy="3048000"/>
          </a:xfrm>
          <a:prstGeom prst="rect">
            <a:avLst/>
          </a:prstGeom>
          <a:solidFill>
            <a:srgbClr val="C03B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24B4C-6D6B-4E13-BE03-B94B4E41F409}"/>
              </a:ext>
            </a:extLst>
          </p:cNvPr>
          <p:cNvSpPr txBox="1"/>
          <p:nvPr/>
        </p:nvSpPr>
        <p:spPr>
          <a:xfrm>
            <a:off x="4648200" y="16510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Phase 2: Agents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F71E3C-76CB-48CB-825D-7F9A1CBA1EFA}"/>
              </a:ext>
            </a:extLst>
          </p:cNvPr>
          <p:cNvSpPr txBox="1"/>
          <p:nvPr/>
        </p:nvSpPr>
        <p:spPr>
          <a:xfrm>
            <a:off x="4648200" y="2006600"/>
            <a:ext cx="2946400" cy="9771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Supervisor planning
Weather and claims tools
Reasoning agent
Compliance agent
Human review UI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DF8E82-A540-45AF-BBA4-5A9212104534}"/>
              </a:ext>
            </a:extLst>
          </p:cNvPr>
          <p:cNvSpPr/>
          <p:nvPr/>
        </p:nvSpPr>
        <p:spPr>
          <a:xfrm>
            <a:off x="8204200" y="1498600"/>
            <a:ext cx="3302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4F436B-E971-4BDD-8267-5914646216E6}"/>
              </a:ext>
            </a:extLst>
          </p:cNvPr>
          <p:cNvSpPr/>
          <p:nvPr/>
        </p:nvSpPr>
        <p:spPr>
          <a:xfrm>
            <a:off x="8204200" y="1498600"/>
            <a:ext cx="63500" cy="3048000"/>
          </a:xfrm>
          <a:prstGeom prst="rect">
            <a:avLst/>
          </a:prstGeom>
          <a:solidFill>
            <a:srgbClr val="227D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972A8-8DF8-420F-BCE4-0F1125D6C2DA}"/>
              </a:ext>
            </a:extLst>
          </p:cNvPr>
          <p:cNvSpPr txBox="1"/>
          <p:nvPr/>
        </p:nvSpPr>
        <p:spPr>
          <a:xfrm>
            <a:off x="8407400" y="16510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061024"/>
                </a:solidFill>
                <a:latin typeface="Aptos Display"/>
              </a:rPr>
              <a:t>Phase 3: Scale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97AEB8-DFBB-4006-A093-81B0EB4CB265}"/>
              </a:ext>
            </a:extLst>
          </p:cNvPr>
          <p:cNvSpPr txBox="1"/>
          <p:nvPr/>
        </p:nvSpPr>
        <p:spPr>
          <a:xfrm>
            <a:off x="8407400" y="2006600"/>
            <a:ext cx="2946400" cy="9771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514137"/>
                </a:solidFill>
                <a:latin typeface="Aptos"/>
              </a:rPr>
              <a:t>API deployment
Monitoring and evaluation
Fraud detection
Voice and multilingual support
Satellite image analysis</a:t>
            </a:r>
            <a:endParaRPr lang="en-IN" sz="1150">
              <a:solidFill>
                <a:srgbClr val="514137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584047-6BA6-4086-AE65-C6C12FD247F7}"/>
              </a:ext>
            </a:extLst>
          </p:cNvPr>
          <p:cNvSpPr txBox="1"/>
          <p:nvPr/>
        </p:nvSpPr>
        <p:spPr>
          <a:xfrm>
            <a:off x="1206500" y="5334000"/>
            <a:ext cx="977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061024"/>
                </a:solidFill>
                <a:latin typeface="Aptos Display"/>
              </a:rPr>
              <a:t>AgriClaimGuard turns policy documents and external evidence into faster, auditable, human-supervised crop insurance decisions.</a:t>
            </a:r>
            <a:endParaRPr lang="en-IN" sz="2000" b="1">
              <a:solidFill>
                <a:srgbClr val="061024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458678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Microsoft Office PowerPoint</Application>
  <PresentationFormat>Custom</PresentationFormat>
  <Paragraphs>151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Sridhar S</dc:creator>
  <cp:lastModifiedBy>Sridhar S</cp:lastModifiedBy>
  <cp:revision>1</cp:revision>
  <dcterms:created xsi:type="dcterms:W3CDTF">2026-07-05T17:40:24Z</dcterms:created>
  <dcterms:modified xsi:type="dcterms:W3CDTF">2026-07-05T17:40:24Z</dcterms:modified>
</cp:coreProperties>
</file>